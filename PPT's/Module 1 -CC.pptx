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89" r:id="rId8"/>
    <p:sldId id="284" r:id="rId9"/>
    <p:sldId id="280" r:id="rId10"/>
    <p:sldId id="278" r:id="rId11"/>
    <p:sldId id="272" r:id="rId12"/>
    <p:sldId id="274" r:id="rId13"/>
    <p:sldId id="263" r:id="rId14"/>
    <p:sldId id="279" r:id="rId15"/>
    <p:sldId id="273" r:id="rId16"/>
    <p:sldId id="275" r:id="rId17"/>
    <p:sldId id="285" r:id="rId18"/>
    <p:sldId id="276" r:id="rId19"/>
    <p:sldId id="277" r:id="rId20"/>
    <p:sldId id="281" r:id="rId21"/>
    <p:sldId id="282" r:id="rId22"/>
    <p:sldId id="264" r:id="rId23"/>
    <p:sldId id="283" r:id="rId24"/>
    <p:sldId id="286" r:id="rId25"/>
    <p:sldId id="288" r:id="rId26"/>
    <p:sldId id="287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3" r:id="rId39"/>
    <p:sldId id="302" r:id="rId40"/>
    <p:sldId id="304" r:id="rId41"/>
    <p:sldId id="301" r:id="rId42"/>
    <p:sldId id="318" r:id="rId43"/>
    <p:sldId id="305" r:id="rId44"/>
    <p:sldId id="306" r:id="rId45"/>
    <p:sldId id="307" r:id="rId46"/>
    <p:sldId id="308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9" r:id="rId55"/>
    <p:sldId id="320" r:id="rId56"/>
    <p:sldId id="321" r:id="rId57"/>
    <p:sldId id="324" r:id="rId58"/>
    <p:sldId id="323" r:id="rId59"/>
    <p:sldId id="322" r:id="rId60"/>
    <p:sldId id="325" r:id="rId61"/>
    <p:sldId id="326" r:id="rId62"/>
    <p:sldId id="335" r:id="rId63"/>
    <p:sldId id="327" r:id="rId64"/>
    <p:sldId id="328" r:id="rId65"/>
    <p:sldId id="329" r:id="rId66"/>
    <p:sldId id="336" r:id="rId67"/>
    <p:sldId id="330" r:id="rId68"/>
    <p:sldId id="337" r:id="rId69"/>
    <p:sldId id="331" r:id="rId70"/>
    <p:sldId id="332" r:id="rId71"/>
    <p:sldId id="334" r:id="rId72"/>
    <p:sldId id="333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7" r:id="rId81"/>
    <p:sldId id="346" r:id="rId82"/>
    <p:sldId id="348" r:id="rId83"/>
    <p:sldId id="349" r:id="rId84"/>
    <p:sldId id="355" r:id="rId85"/>
    <p:sldId id="353" r:id="rId86"/>
    <p:sldId id="354" r:id="rId87"/>
    <p:sldId id="352" r:id="rId88"/>
    <p:sldId id="350" r:id="rId89"/>
    <p:sldId id="351" r:id="rId90"/>
    <p:sldId id="356" r:id="rId91"/>
    <p:sldId id="357" r:id="rId92"/>
    <p:sldId id="358" r:id="rId93"/>
    <p:sldId id="359" r:id="rId94"/>
    <p:sldId id="360" r:id="rId95"/>
    <p:sldId id="361" r:id="rId96"/>
  </p:sldIdLst>
  <p:sldSz cx="12192000" cy="6858000"/>
  <p:notesSz cx="6858000" cy="9144000"/>
  <p:embeddedFontLst>
    <p:embeddedFont>
      <p:font typeface="Cambria" panose="02040503050406030204" pitchFamily="18" charset="0"/>
      <p:regular r:id="rId98"/>
      <p:bold r:id="rId99"/>
      <p:italic r:id="rId100"/>
      <p:boldItalic r:id="rId101"/>
    </p:embeddedFont>
    <p:embeddedFont>
      <p:font typeface="Poppins" panose="00000500000000000000" pitchFamily="2" charset="0"/>
      <p:regular r:id="rId102"/>
      <p:bold r:id="rId103"/>
      <p:italic r:id="rId104"/>
      <p:boldItalic r:id="rId10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49">
          <p15:clr>
            <a:srgbClr val="A4A3A4"/>
          </p15:clr>
        </p15:guide>
        <p15:guide id="2" pos="232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6" roundtripDataSignature="AMtx7miF1ILXNU9/HYraWKOLmveo3DQH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5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6.fntdata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2.fntdata"/><Relationship Id="rId10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104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3.fntdata"/><Relationship Id="rId105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font" Target="fonts/font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FBA5124-0CBB-054C-052A-C242E149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48BE00E-7EEE-A2F1-11E1-3EC3B4644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FE4AF5C-E6D5-625E-F67A-581F1C92B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6734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1BC2770-628F-4523-8894-1DFFC57A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7297498-887C-ED63-A8ED-D15B5A7A9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2BFF2E5-7ABF-18F5-F5D8-549FB4770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5566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CE1C970-48F2-0ACD-C098-9AEFC3BE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293DB44-2D77-E738-53F6-EA1F83511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3F8240E-3D9B-EE94-BAE8-D11965914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107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ADB6F9A-BFEC-6E03-B6B0-0BD41BC55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04478DB-4E23-8A43-9A59-8C19D2766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7A700D26-7876-4160-55EA-4EE26BC08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1372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011860B-76A6-5765-9076-BBFF3C2CF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2204D81B-5161-7DD6-6FFB-DCB8CE17C9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A096ECA-7442-5266-4639-75C0DF002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2092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B4A9E56-D293-8135-365B-37659BA3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1A9C066-8170-CD28-8394-B4E65F526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6C830F5-E811-1C05-DBEB-F78FFD65B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6239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BF8B415-910E-171C-99CF-8EE342B4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3613784-9B44-DA84-C3BB-C9B92FF29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C3E4CBD-778F-E4A3-7777-387363541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1208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DD34463-9342-90F8-7E10-31033485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3D19B8E-82CE-F9B5-A444-065FC7732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F727DC8-225D-DBCD-9F42-0021BD397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9630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C6DEF28-2AF9-7900-7508-B76533AB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2573CF0C-65E5-5C15-3106-E94EFD7E1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1FA0135-C0E0-5AB8-DA79-D514C2842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7955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AAFA5E5-F547-3C60-3592-DA2987399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1612B425-87F5-C29D-8B75-1C7C75E82A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F5D8A14-D9B6-D723-E64B-2E2AFB776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4584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B7CE4BB-2DEB-A152-D9E2-2DE3BA425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04290D9-6DAB-B3D1-AEDA-5A7228279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B5CFD8C-5F40-4DBE-A2CE-9675E07BC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0435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1CDEDDD-F887-49C7-1C0B-38E6BF9A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8BE362D-1D93-DF7E-DB76-8EEF4F9E2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C53DE462-B6AB-D4BF-EDFA-BD76FC71C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7715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C87B7BB-0AA1-4607-888D-9E5F2A7C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A6DBAFE-A9A1-B66E-0F69-17EF6B294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866B153-1220-ADAC-E91F-38F8AEFC9A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5521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DDA7AAE-8AEF-5E91-62B6-F76F31DE4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AE587F4-764D-D0CE-831F-FA02FC42B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E31BC2C-AAC1-8FB8-D9B8-854C62166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7588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7948B65-6525-51B5-EB6F-589AFA30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4CD0450-C964-BB36-E4DA-4F4A2E3C0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91ED2A4-F2EE-C6F5-82E9-6841F72AC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4311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75BF0F1-50DE-84A4-D70F-8296D2FE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02A915A3-2E18-D111-F7CE-8E7EEDAAC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FAE4EE8-1074-0247-683F-8A78D0091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360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7D7169E-BB25-B37D-30CA-3709515D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959D8D9-3564-5F3F-16E6-40255D0B2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74E607C-9AD9-3930-C4F3-B3F49F67C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7734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CE5F097-A140-6F1C-CB72-69B97283A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246CE9A-A68E-07E7-8E2D-07367F535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4A7655A-96AB-429A-5081-8B4F010C2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7534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765268A-820F-00D8-7342-1DEC14A1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1E3A7C2B-3DA1-AFFE-B641-93B78AF32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734C4B93-FD22-2DA0-89D9-4DC76533D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64567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3D24307-59A3-4580-C5B1-8BF63548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DA7339B-0D53-B35A-CA00-10801E01D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89E53C3-AA35-6224-3A63-075CAB9FF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66969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37063FE-DB38-C747-222C-32EF3888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FECA70F-EE6A-4041-66C5-2E4C465A2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C046A07-0A63-1AA4-3188-EBD080162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0536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9CBAF2E-89FC-6731-2475-6CF761D0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F4C5B36-BFB2-68C8-8C8B-76EB56A1D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8EEE15F-C5BA-FF0D-7207-61AA5C84CA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49656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4741715-C87C-204A-9979-CEBCBD22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2F722C04-056B-6006-B007-BB54A70DA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1C5CF55C-11EA-2E63-1B16-B4698F73E2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0217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7D5CD15-0270-68E2-276B-78A80B171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6E3DB59-8FC9-F97C-DD81-0A8E53534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D1AC855-6C79-AE96-7EE2-D9852F152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384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07031F2-A61D-AF91-EAB3-FE794DA58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226B873C-237B-D0BA-CB29-D061ED1A6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CDBC56E-DAB5-EC36-0D3B-0A32C89F31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70981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5F2D28C-1673-57A7-D878-1AAFC184C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0749FF5E-FDAA-D0A2-79CA-13DACDB09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9DE45295-0F01-BC97-1AE9-BBE9C1209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08357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82E14C7-5575-E174-1FDF-3EBD7616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A4B7652-661B-A290-7C64-F2A98458C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803DDEC-2DA3-BB8E-3763-ABADB3FE1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58210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ABFDD4A-9125-4FB7-66FC-F902BE54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7BB1287-60B0-78FE-7A82-170E69A71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14501368-B60F-20E3-FF28-82F3310D7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84727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DA99E46-23BE-A3AF-CA26-23C81E19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2D267BF-8DE5-A7F6-CCFC-848032843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B9611B2-0882-2D0B-5894-0109A093C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42387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C95B2F6-16F1-F1C9-8134-AEB88E73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67816BD-6573-73F8-C138-5E44F30FF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CC042FF-7E8D-F281-9E3B-167FA1B74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2508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2C4FEC6-4E0F-B0C9-D806-5063CF887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7B6C7D08-C7BF-E12B-9196-E63BA95CB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7C301AD-C99C-959B-21D5-7AA25183C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88960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DE17921-9786-5D00-5A02-9CD2BA86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A1D6406D-D228-A134-4EC3-66017BFE7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7C2CBA99-D1B7-295D-B1B1-28D880971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68468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E0C49AD-300B-25D1-AD19-2EDF9659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479871C-17A4-4F8B-8951-DDC6CDADD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6BF9EF24-9052-6DEF-D9B4-D9B40F4DD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56608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E4E6DC8-4D47-0635-C140-710BB604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3D63404-B14B-3A09-B83A-51F34C185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96F53C88-887A-6937-404E-F5F645768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01293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42B27BB-0DB4-3FD4-D459-96D91F39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0F64CF3D-9F3E-F89F-506A-2DEFA5BDF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31D4D16-DE11-3155-57E2-74A2C37903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29823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A20F5D9-29F5-FE18-3911-96F2CCEC7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2990F0D9-2230-4EC9-2C8C-3DF3127AF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DC97E080-5BD2-9ABD-11AB-D56E74AB4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7973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93FE23D-9FD1-1068-D41C-3EEC2E3D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1EB1064-574E-424A-D7E9-006C20A0E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64572923-F7D7-A71D-3A7D-D9456F5C1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31468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7320813-1CA3-92EC-47B5-28A60FA2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C41D4797-EAB3-8AEE-F4A7-16921C780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71CEEB7C-5F1E-C551-666A-A8F221E76C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43186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03FBCF2-F8D1-8531-635C-0A8E7E95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9C3F230-3292-E4F5-646C-E7830267F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1B45BC2-8CF2-F500-9782-57002BB18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52135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446FF14-F407-A576-59BC-E4DEA854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E148EE8B-6574-1592-82A6-C062E78555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63AB6F0A-97A5-A050-E116-1BE3C7963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70483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C52D6F8-3562-7449-49D8-29D01605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8E57FE2-6FA5-262D-1B62-947717D94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A00BB44C-5854-4F0A-F098-2885C4A10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38073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3DBB613-6F59-8429-7795-5F768753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016BC817-F76C-7276-6A18-3ED79351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02465D68-2D75-F9DC-BEFE-0EFAD2829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68023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AE40468-64A3-77DD-E474-2771B5E6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40DEBAE-142B-00EE-EF65-31DD01A54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114B27F-960A-D441-8271-017A5AD4D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2850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F94EFCA-7755-DB44-2D82-41ECA860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ECF59C3-D0B3-C43B-FADC-E4CCF90A0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601154C0-73B4-B007-5027-F48EFF92C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31664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87A7EE4-6B89-F8ED-55BC-11973AD8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51587696-4AA8-89DC-6FE1-B805CA081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A9B8AADD-EFAE-B5A1-D8EC-A2017D7A8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26461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BC83002-CB56-AE5D-FE4A-24122EEE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6886910-2A72-5596-B274-37F430A5C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491664C-5B0C-3D87-45FF-B4154CC9B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26709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F9F0753-0259-BC0E-31A9-9D9B07C43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2DFD450-EB74-4C5E-F2F0-F256E739F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0DAE89BE-DF62-0BEE-CE44-B453B30B2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07256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D03E3E2-5D11-C96B-487F-BB0D7787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CF9E010-5693-98F7-8FF8-46F9D90AB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99DABC9-AB3A-DA95-996C-87B7BBCF9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10620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63F3CE7-E63B-7DE2-D995-B0F39822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522B42B-BEB7-8922-8C28-D4EE0A2F2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C116F297-381D-45DC-128C-A98000D13B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71426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E2EA263-4DFF-EEC8-5E5E-65DEB0255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2CBE8A6-A1B2-CCAA-082F-C4840F94A4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9EF3B13-469B-9690-68A8-582E4E66C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80005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B3686E4-686F-DD5B-FC71-5CBE26C5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B42FF57-F006-FC6F-395D-B9DAD42C8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0B590B85-944B-80F6-83DC-A3CCB52B5C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870767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1BA907A-6EA7-96E3-2790-608F3550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69F987E-CB2D-379A-5246-C12B50AE4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C19DA5D-FCC3-28C3-DEE1-87DAC9EBB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49107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0D6ACC5-2D0A-9430-2793-FD7E5F75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9A16DC5-CF6C-6302-E32A-631D48C78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AC45C2F7-767C-0C98-C69C-D6883024C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32522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0D53DF7-8192-BEC4-E61F-E199CA19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C190D66-96C6-94E3-6AB8-B9344BD50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0282882-2AE1-D6AE-1A0D-AAD1C8877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03857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8F733FB-6478-B73F-E90D-CB5DF656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688AF01-A417-B755-1165-412393A02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9181A7E4-38B2-B621-1F4F-7FAAE24CE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31014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9722C27-AAE6-9B39-1C0A-62742B9F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5DE5B31-18D5-691F-D1D0-F26244EACF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15673DDE-FDEC-BED0-5D11-A49A3532B9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8879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5A8D1E5-FE71-AFA8-C61F-CFA4574B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C39D400-C28C-4C4E-3369-F867533C5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D1F2762-13BA-01FF-0545-1F2EAB613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883288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34A2297-EE67-2219-EE7F-C9A93947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C2716478-98B7-BA57-132E-F78F9AA6D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16CD78D9-EA11-4217-D14B-9EAD1E3C4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100878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FF3141E-3DB3-55A7-24CD-42E53CB7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08515866-3EA0-D39E-4E04-0ACB9F1CCF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74AC17EC-11B1-EBAA-6B8F-C03B14896F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7627369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6CDA6C8-F214-E088-4C73-5AE646AEB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42371DA-C12D-6A36-57E1-51F9963C2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AA416AA-78FA-5C5E-0EB0-782C3B0093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72675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E7A9F63-8F80-B067-7547-5D68DBCC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9491E0B-6FA5-1FE4-DF39-DE377DCC4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3F26BCF-C2D7-97AD-3C92-839ED538F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440143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AB60829-8991-7709-0765-426476A8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A6C99100-9375-BFB3-7F63-57C63D677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44CF148-211F-8AD4-D809-3F26B1EDD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95145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C0945B8-55AE-6251-A6CC-0330427F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E4D486F-E701-7013-B7FF-16C30D389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D83E68D-9662-30D6-A0CF-0E308C93B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310360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5530EE1-4862-DFB2-B69E-98420F4E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1B5698F-0CEA-6C6B-FDB6-FD43E7707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5711B41-497B-5DAC-09A0-B7A81DC03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403669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DD58B83-1474-0681-A081-368DE8DB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C794FBF-4B44-0ED0-E1E8-C47683605F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AFF6BDB-B829-864C-D3E4-D3660122E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192282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1FE25A1-6BE6-C946-75D4-1F1C646C6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C7CE0572-C414-AABE-8ACB-E5429BBF3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B1ED07F-611E-5765-27EE-DF8562392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31497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D950943-0890-C76A-29D0-11301FC0D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EE9EFFEF-D07C-0FDF-C79E-E3BAB3F9A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7BB65DA3-422F-69DD-7424-CD1A8C492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046981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8BD592B-10E9-2A40-2BD9-4FA540DB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A8D8D7B1-7BF7-6C56-3E7F-7E6C7EF8E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119970D5-3ED4-5593-4DBA-0A119D25B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658431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2E097E8-933F-C811-E55E-7A6DDE87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6B62FB7-AE96-D5F8-604C-270CA604B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80F939B5-2AAD-D5B5-D585-3078EBCBC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817347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7DA555F-6621-ACF1-B5A2-B057AD7B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8567725-8C93-D3D0-1784-21A7B88B91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65DD774-AEFB-2C9C-99BD-DC817450F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704791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1CEE61A-45CD-1786-080B-17FE4C34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C0BA5503-910C-18A8-742C-8081BC3FB2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D0FEB81A-474B-620E-C0A7-76A8E02EE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238122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5A32F4C-3788-FA3B-589F-C2DB70925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EC81B6C-17F3-A6E1-250B-385AFCA81B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E31399B-B6D6-92B5-64FD-311CDD564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412815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55E2174-8959-28F0-D240-F424A145B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5AAA11B3-9A74-9C1E-1F2F-0FC553EC8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950FC1C-908D-9616-A83A-23043E7C3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588227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F0E3079-A08E-72AB-7159-7EBE054B3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55B34166-DC79-CCE4-F9B7-D7833784F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15E34451-00EC-7149-D99E-3B3A4864F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549164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AC95D4E-3184-0395-9E46-C85FC746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7E760D1-C667-70DB-4F5D-8FDC77E6C7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DF0964C3-8DA0-5242-FD5D-BC7A639B37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431098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5A37380-7E0B-E3AB-713A-AF18D11A3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D091827-FB07-4AC9-AE31-1D52DC22C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68C14B8-E796-0473-6D75-7B635FA6C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343010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B879E30-AA07-9C77-A61C-4A573EC9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85A8049-0251-8AD1-CC84-EF64013D03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FEBE315-84D8-00C9-6A49-96EF1B34D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145179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6DDDFC1-18B1-8C50-980D-8BCAFBF6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83DBE42-C7EE-18B9-9443-0A099CF1A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512A7E3-397B-9D0A-C147-597CE596C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130229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D835E6D-ED0E-03BB-9BB9-CAA38B7C7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A8CDABCF-A087-2974-B74B-615BD942E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C4A3D77B-6034-AD57-6374-2F206BE05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335049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3361AA2-71BA-9505-6596-027049A6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F472815-3646-E366-07E5-465FB6F2D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D266114-6955-1C86-1FF2-0464CAB76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639969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0F459F5-1AAF-56DB-690B-46ABB353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F5CFDF8-E94C-6225-CD39-301D19271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C25F0D27-609D-850D-A4E6-F4099FB67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677123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E4685F2-5CD6-4C32-56E5-0B01E2122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BCD7296-A3D2-3C7C-C416-2E2F3B3CC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A7C844E-7D32-EDA1-4595-37E112EB2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635632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509C47E-8620-ADEB-E539-0DC0BF67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0F8E92AA-89D8-282E-0E20-D5E28CEDD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26C260C-4119-DF71-2B6F-C513D3D1BB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545877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4076EF7-24B7-EB5C-CAA3-A7AA07E6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1010A3DD-16FB-4ED5-00A6-7D1BBC577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C3EEB055-71A3-4422-82C6-E5BF14832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867699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0BF1ED7-0B11-7885-4647-7E61E7CB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01DD1A77-0CE9-F523-B51D-A40BFFFE0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0BA298F6-ED13-2C5C-8AA6-BC1AD5C21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45909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041E698-EF45-43F3-76F4-B4242991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21DBDC6-05EE-05CA-0601-28552A254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85DDEB8-9CCD-84BB-D438-C7AEB871F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468702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9E0AD34-FFEE-8D41-DB8C-2616C42E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55A78A8C-2DC1-37C6-838E-FD1CB87984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123D2352-0894-778D-A50C-DCA89C742B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782426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2E9CA07-45AD-BA01-03EF-DBAA8C96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EC0D8E6D-80D0-A287-04FB-FACDD03B7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8F049A8E-92A3-C1DA-E091-1F2A5DFC0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392061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4AF5B0F-F108-D02F-752F-E559EF50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2FE284A8-48E9-3239-F75E-403632257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35D9E1E-16D9-8763-9EBE-CF59E147E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809443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9E29D62-1553-7A8A-1842-DEC949D6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0CD6DD3-D84A-929B-382B-0FCD1359B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647B7CCC-3D8C-4F43-C4AF-B525AA1BFB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98482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0C80A2E-9DF6-E6E6-ED0A-F7854260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7D980D4-38FC-A938-A6A8-C96709184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91805AC2-7666-5585-DA41-C7724EE3B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802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f652423855_0_15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2f652423855_0_15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g2f652423855_0_15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Apache_Axis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122050" y="1474470"/>
            <a:ext cx="2209800" cy="3067685"/>
            <a:chOff x="230" y="2322"/>
            <a:chExt cx="3480" cy="4831"/>
          </a:xfrm>
        </p:grpSpPr>
        <p:sp>
          <p:nvSpPr>
            <p:cNvPr id="95" name="Google Shape;95;p1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" name="Google Shape;97;p1" descr="Imag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7183" y="1851809"/>
            <a:ext cx="3006356" cy="237599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08600" y="3611975"/>
            <a:ext cx="246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l="17359" r="12452"/>
          <a:stretch/>
        </p:blipFill>
        <p:spPr>
          <a:xfrm>
            <a:off x="2424931" y="4959072"/>
            <a:ext cx="9071069" cy="1898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4265296" y="1385570"/>
            <a:ext cx="6070600" cy="1771015"/>
            <a:chOff x="4121" y="2182"/>
            <a:chExt cx="9560" cy="2789"/>
          </a:xfrm>
        </p:grpSpPr>
        <p:grpSp>
          <p:nvGrpSpPr>
            <p:cNvPr id="109" name="Google Shape;109;p2"/>
            <p:cNvGrpSpPr/>
            <p:nvPr/>
          </p:nvGrpSpPr>
          <p:grpSpPr>
            <a:xfrm>
              <a:off x="4121" y="2182"/>
              <a:ext cx="1837" cy="539"/>
              <a:chOff x="4882" y="2182"/>
              <a:chExt cx="1837" cy="539"/>
            </a:xfrm>
          </p:grpSpPr>
          <p:sp>
            <p:nvSpPr>
              <p:cNvPr id="110" name="Google Shape;110;p2"/>
              <p:cNvSpPr/>
              <p:nvPr/>
            </p:nvSpPr>
            <p:spPr>
              <a:xfrm>
                <a:off x="4931" y="2182"/>
                <a:ext cx="1788" cy="539"/>
              </a:xfrm>
              <a:prstGeom prst="roundRect">
                <a:avLst>
                  <a:gd name="adj" fmla="val 25046"/>
                </a:avLst>
              </a:prstGeom>
              <a:solidFill>
                <a:srgbClr val="F28E01"/>
              </a:solidFill>
              <a:ln>
                <a:noFill/>
              </a:ln>
            </p:spPr>
            <p:txBody>
              <a:bodyPr spcFirstLastPara="1" wrap="square" lIns="50800" tIns="50800" rIns="0" bIns="50800" anchor="ctr" anchorCtr="0">
                <a:noAutofit/>
              </a:bodyPr>
              <a:lstStyle/>
              <a:p>
                <a:pPr marL="914400" marR="0" lvl="2" indent="0" algn="ctr" rtl="0">
                  <a:lnSpc>
                    <a:spcPct val="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en-US" sz="32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 txBox="1"/>
              <p:nvPr/>
            </p:nvSpPr>
            <p:spPr>
              <a:xfrm>
                <a:off x="4882" y="2182"/>
                <a:ext cx="1790" cy="5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Overveiw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2"/>
            <p:cNvGrpSpPr/>
            <p:nvPr/>
          </p:nvGrpSpPr>
          <p:grpSpPr>
            <a:xfrm>
              <a:off x="4170" y="2420"/>
              <a:ext cx="9511" cy="2551"/>
              <a:chOff x="4170" y="2420"/>
              <a:chExt cx="9511" cy="2551"/>
            </a:xfrm>
          </p:grpSpPr>
          <p:sp>
            <p:nvSpPr>
              <p:cNvPr id="113" name="Google Shape;113;p2"/>
              <p:cNvSpPr/>
              <p:nvPr/>
            </p:nvSpPr>
            <p:spPr>
              <a:xfrm>
                <a:off x="4170" y="2420"/>
                <a:ext cx="9511" cy="2551"/>
              </a:xfrm>
              <a:prstGeom prst="roundRect">
                <a:avLst>
                  <a:gd name="adj" fmla="val 23329"/>
                </a:avLst>
              </a:prstGeom>
              <a:gradFill>
                <a:gsLst>
                  <a:gs pos="0">
                    <a:srgbClr val="F6F9FC"/>
                  </a:gs>
                  <a:gs pos="100000">
                    <a:srgbClr val="FFAB35">
                      <a:alpha val="25098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914400" marR="0" lvl="2" indent="0" algn="l" rtl="0">
                  <a:lnSpc>
                    <a:spcPct val="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en-US" sz="32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 txBox="1"/>
              <p:nvPr/>
            </p:nvSpPr>
            <p:spPr>
              <a:xfrm>
                <a:off x="4653" y="2901"/>
                <a:ext cx="8546" cy="1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-US" sz="13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Acharya stands as a beacon of excellence in higher education, boasting a legacy of academic distinction since its establishment in 1990. We offer a transformative educational experience, fostering holistic development, nurturing innovation and providing world-class facilities to ensure an enriching journey for our students.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15" name="Google Shape;11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9410" y="3069000"/>
            <a:ext cx="3188043" cy="12398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2"/>
          <p:cNvGrpSpPr/>
          <p:nvPr/>
        </p:nvGrpSpPr>
        <p:grpSpPr>
          <a:xfrm>
            <a:off x="122050" y="1474470"/>
            <a:ext cx="2209800" cy="3067685"/>
            <a:chOff x="230" y="2322"/>
            <a:chExt cx="3480" cy="4831"/>
          </a:xfrm>
        </p:grpSpPr>
        <p:sp>
          <p:nvSpPr>
            <p:cNvPr id="117" name="Google Shape;117;p2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9" name="Google Shape;119;p2" descr="Image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2"/>
          <p:cNvSpPr txBox="1"/>
          <p:nvPr/>
        </p:nvSpPr>
        <p:spPr>
          <a:xfrm>
            <a:off x="215125" y="3662375"/>
            <a:ext cx="220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4432" y="2386185"/>
            <a:ext cx="9081568" cy="449376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3"/>
          <p:cNvGrpSpPr/>
          <p:nvPr/>
        </p:nvGrpSpPr>
        <p:grpSpPr>
          <a:xfrm>
            <a:off x="4296410" y="1269366"/>
            <a:ext cx="4349750" cy="897255"/>
            <a:chOff x="4260" y="1285"/>
            <a:chExt cx="6850" cy="1413"/>
          </a:xfrm>
        </p:grpSpPr>
        <p:sp>
          <p:nvSpPr>
            <p:cNvPr id="129" name="Google Shape;129;p3"/>
            <p:cNvSpPr txBox="1"/>
            <p:nvPr/>
          </p:nvSpPr>
          <p:spPr>
            <a:xfrm>
              <a:off x="4261" y="1285"/>
              <a:ext cx="5705" cy="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11 Institutions, Infinite Possibilities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" name="Google Shape;130;p3"/>
            <p:cNvGrpSpPr/>
            <p:nvPr/>
          </p:nvGrpSpPr>
          <p:grpSpPr>
            <a:xfrm>
              <a:off x="4260" y="1823"/>
              <a:ext cx="6850" cy="875"/>
              <a:chOff x="4260" y="1823"/>
              <a:chExt cx="6850" cy="87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4261" y="1823"/>
                <a:ext cx="6143" cy="875"/>
              </a:xfrm>
              <a:prstGeom prst="roundRect">
                <a:avLst>
                  <a:gd name="adj" fmla="val 23329"/>
                </a:avLst>
              </a:prstGeom>
              <a:gradFill>
                <a:gsLst>
                  <a:gs pos="0">
                    <a:srgbClr val="F6F9FC"/>
                  </a:gs>
                  <a:gs pos="100000">
                    <a:srgbClr val="FFAB35">
                      <a:alpha val="25098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914400" marR="0" lvl="2" indent="0" algn="l" rtl="0">
                  <a:lnSpc>
                    <a:spcPct val="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en-US" sz="32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3"/>
              <p:cNvSpPr txBox="1"/>
              <p:nvPr/>
            </p:nvSpPr>
            <p:spPr>
              <a:xfrm>
                <a:off x="4260" y="2031"/>
                <a:ext cx="6850" cy="4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-US" sz="13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We provide 100+ programs across 50 academic streams.</a:t>
                </a:r>
                <a:endParaRPr sz="13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3" name="Google Shape;133;p3"/>
          <p:cNvGrpSpPr/>
          <p:nvPr/>
        </p:nvGrpSpPr>
        <p:grpSpPr>
          <a:xfrm>
            <a:off x="122050" y="1474470"/>
            <a:ext cx="2209800" cy="3067685"/>
            <a:chOff x="230" y="2322"/>
            <a:chExt cx="3480" cy="4831"/>
          </a:xfrm>
        </p:grpSpPr>
        <p:sp>
          <p:nvSpPr>
            <p:cNvPr id="134" name="Google Shape;134;p3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6" name="Google Shape;136;p3" descr="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3"/>
          <p:cNvSpPr txBox="1"/>
          <p:nvPr/>
        </p:nvSpPr>
        <p:spPr>
          <a:xfrm>
            <a:off x="158950" y="3633125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/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/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/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/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/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/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13F49E-27F1-F30F-F2A4-56712ADBE721}"/>
              </a:ext>
            </a:extLst>
          </p:cNvPr>
          <p:cNvSpPr txBox="1"/>
          <p:nvPr/>
        </p:nvSpPr>
        <p:spPr>
          <a:xfrm>
            <a:off x="3815255" y="654663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Cloud Computing and Security (BIS613D)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2A00B-4787-FE50-CBA1-32589A20EE63}"/>
              </a:ext>
            </a:extLst>
          </p:cNvPr>
          <p:cNvSpPr txBox="1"/>
          <p:nvPr/>
        </p:nvSpPr>
        <p:spPr>
          <a:xfrm>
            <a:off x="3086949" y="1700793"/>
            <a:ext cx="799620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MODULE-1 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</a:p>
          <a:p>
            <a:pPr algn="just"/>
            <a:r>
              <a:rPr lang="en-US" sz="24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Distributed System Models and Enabling Technologies:</a:t>
            </a:r>
          </a:p>
          <a:p>
            <a:pPr algn="just"/>
            <a:endParaRPr lang="en-US" sz="2400" b="1" dirty="0">
              <a:latin typeface="Cambria" panose="020405030504060302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Scalable Computing Over the Internet</a:t>
            </a:r>
            <a:endParaRPr lang="en-US" sz="2400" dirty="0">
              <a:latin typeface="Cambria" panose="020405030504060302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Technologies for Network-Based Systems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System Models for Distributed and Cloud Computing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Software Environments for Distributed Systems and Clouds</a:t>
            </a:r>
            <a:endParaRPr lang="en-US" sz="2400" dirty="0">
              <a:latin typeface="Cambria" panose="020405030504060302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Performance Security and Energy Efficiency. 	</a:t>
            </a:r>
          </a:p>
          <a:p>
            <a:pPr algn="just"/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F424BD8-C5F1-0D9C-EB5A-25F83714C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6F4C64E-03A5-B369-0093-579A638B7BD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0BFDCDC4-2CA8-377F-C1D5-C320D3696DC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EE6ACF5-7982-A632-0383-DAF78BB7429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CA6F9D0-6A03-CC66-4662-6871D3F421D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23141EF-955A-5DB2-6848-1CD8F81E7B3D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10C1782-4A77-0CDB-AFF7-50179F536E6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8202129D-3D61-34E6-F6A3-D3E5CFA27CA7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F4125-C3E5-F4BC-20A1-6FC5262DB4CB}"/>
              </a:ext>
            </a:extLst>
          </p:cNvPr>
          <p:cNvSpPr txBox="1"/>
          <p:nvPr/>
        </p:nvSpPr>
        <p:spPr>
          <a:xfrm>
            <a:off x="2805769" y="1474470"/>
            <a:ext cx="8803993" cy="364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Understand the evolution of distributed computing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Differentiate HPC, HTC, clusters, grids, P2P, and cloud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Explain enabling technologies for network-based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Analyze performance, security, and energy efficiency challenges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Identify modern distributed programming models</a:t>
            </a:r>
          </a:p>
          <a:p>
            <a:pPr algn="just">
              <a:lnSpc>
                <a:spcPct val="150000"/>
              </a:lnSpc>
            </a:pPr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5F311-0F69-B976-4C25-372C9B10ADE9}"/>
              </a:ext>
            </a:extLst>
          </p:cNvPr>
          <p:cNvSpPr txBox="1"/>
          <p:nvPr/>
        </p:nvSpPr>
        <p:spPr>
          <a:xfrm>
            <a:off x="2717063" y="352515"/>
            <a:ext cx="8559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/>
              <a:t>Module 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124339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AC6ADBF-0E75-860F-4F32-5C09E2FA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4EA44AE5-6B47-85EE-62F4-22976173988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B57E4329-3151-8F77-5B96-80D4DF27C28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1368AE6-465D-2B15-3952-BDFDDD0405E5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2A530CF9-0BA9-8358-8B6A-B05A76561AAC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6AE47F3-4A55-28BE-736E-7AA3A4C1AF6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21BA365-8825-744A-AD84-2A196A7335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B4D513D-76E9-EAC6-BB42-89472D4BCAC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67F4AC-A122-E3C1-8460-29CDC2300E7F}"/>
              </a:ext>
            </a:extLst>
          </p:cNvPr>
          <p:cNvSpPr txBox="1"/>
          <p:nvPr/>
        </p:nvSpPr>
        <p:spPr>
          <a:xfrm>
            <a:off x="2519159" y="317778"/>
            <a:ext cx="9234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over the Internet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4B4ED-B7D3-1605-6918-9FF0033C255C}"/>
              </a:ext>
            </a:extLst>
          </p:cNvPr>
          <p:cNvSpPr txBox="1"/>
          <p:nvPr/>
        </p:nvSpPr>
        <p:spPr>
          <a:xfrm>
            <a:off x="2600832" y="1605051"/>
            <a:ext cx="8895075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Over the last few decades, computing shifted from centralized mainframes to large-scale Internet-based systems. The growth of:</a:t>
            </a:r>
          </a:p>
          <a:p>
            <a:pPr lvl="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Massive data generation</a:t>
            </a:r>
          </a:p>
          <a:p>
            <a:pPr lvl="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Millions of concurrent users</a:t>
            </a:r>
          </a:p>
          <a:p>
            <a:pPr lvl="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Web services and cloud platforms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has transformed computing into a </a:t>
            </a:r>
            <a:r>
              <a:rPr lang="en-US" sz="2000" b="1" dirty="0"/>
              <a:t>data-intensive and network-centric discipline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Earlier performance measurement relied on the </a:t>
            </a:r>
            <a:r>
              <a:rPr lang="en-US" sz="2000" b="1" dirty="0" err="1"/>
              <a:t>Linpack</a:t>
            </a:r>
            <a:r>
              <a:rPr lang="en-US" sz="2000" b="1" dirty="0"/>
              <a:t> benchmark (HPC focus)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Today, computing must also satisfy </a:t>
            </a:r>
            <a:r>
              <a:rPr lang="en-US" sz="2000" b="1" dirty="0"/>
              <a:t>High Throughput Computing (HTC)</a:t>
            </a:r>
            <a:r>
              <a:rPr lang="en-US" sz="2000" dirty="0"/>
              <a:t> requirements.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4B003-11ED-BD5B-E2F8-8340E1D208E5}"/>
              </a:ext>
            </a:extLst>
          </p:cNvPr>
          <p:cNvSpPr txBox="1"/>
          <p:nvPr/>
        </p:nvSpPr>
        <p:spPr>
          <a:xfrm>
            <a:off x="2540325" y="1204941"/>
            <a:ext cx="6112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Age of Internet Computing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28975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80CBC9E-247A-448E-5FF9-FF31D578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243D0B4-98A7-DCE2-B9F6-3409769C6822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3F190390-61FD-A326-3E38-66AE74B4AEA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27FE6EE-07EF-713A-4705-5F299A4EF12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5DA4BC5-5D09-2DB5-BD37-121DB0F0033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B676A44-3B43-59BC-FE0E-61AB5866550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0AB34E4-B648-DB30-1C89-14574D03D4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B924BDB-FD5C-FF94-F84B-8009B247867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4F64D-F1AD-9DB7-02F7-506510482C46}"/>
              </a:ext>
            </a:extLst>
          </p:cNvPr>
          <p:cNvSpPr txBox="1"/>
          <p:nvPr/>
        </p:nvSpPr>
        <p:spPr>
          <a:xfrm>
            <a:off x="2519160" y="317778"/>
            <a:ext cx="89767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Evolution of Distributed Computing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D42A9-847F-CB86-C33C-E4A5F039DF20}"/>
              </a:ext>
            </a:extLst>
          </p:cNvPr>
          <p:cNvSpPr txBox="1"/>
          <p:nvPr/>
        </p:nvSpPr>
        <p:spPr>
          <a:xfrm>
            <a:off x="2600832" y="1666240"/>
            <a:ext cx="89738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Shift from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centralised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mainframes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distributed Internet systems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1950–1970 – Mainframes (e.g., IBM 360): Used by big companies and governments.</a:t>
            </a: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1960–1980 – Minicomputers (e.g., PDP-11): Used in colleges and small businesses.</a:t>
            </a: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1970–1990 – Personal Computers: Built using microprocessors (VLSI).</a:t>
            </a: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1980–2000 – Portable Devices: Laptops, mobiles in wired/wireless networks.</a:t>
            </a: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Since 1990 – Clusters, Grids &amp; Clouds: Use High Performance and High Throughput system</a:t>
            </a:r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4EA3C-6CB3-8E26-FDBA-2B6A5F74813E}"/>
              </a:ext>
            </a:extLst>
          </p:cNvPr>
          <p:cNvSpPr txBox="1"/>
          <p:nvPr/>
        </p:nvSpPr>
        <p:spPr>
          <a:xfrm>
            <a:off x="2727636" y="6278612"/>
            <a:ext cx="8559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Shift:</a:t>
            </a:r>
          </a:p>
          <a:p>
            <a:r>
              <a:rPr lang="en-US" b="1" dirty="0"/>
              <a:t>From centralized computing → to parallel and distributed computing → to cloud computing and IoT</a:t>
            </a:r>
          </a:p>
        </p:txBody>
      </p:sp>
    </p:spTree>
    <p:extLst>
      <p:ext uri="{BB962C8B-B14F-4D97-AF65-F5344CB8AC3E}">
        <p14:creationId xmlns:p14="http://schemas.microsoft.com/office/powerpoint/2010/main" val="142599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14E4308-A817-B5C0-7B34-45A4648F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F02E6360-82E0-C7C3-D6D1-56757A86588F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7C73B51-EBC3-2F74-1776-A1E25B54613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241F18D-E072-5507-7E26-9C989ED3E36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EBF4082-5B5E-0B94-6C29-88AF42BF1001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0F1D7B97-8A3F-9E73-6D75-C069BEEA6B1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790E3060-F00C-0722-001C-65A3039D1AA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FC7522A4-0406-E18B-B183-958C5B81CFB4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B74F9-D976-EADB-39FF-9FFDEDE81DD1}"/>
              </a:ext>
            </a:extLst>
          </p:cNvPr>
          <p:cNvSpPr txBox="1"/>
          <p:nvPr/>
        </p:nvSpPr>
        <p:spPr>
          <a:xfrm>
            <a:off x="2519160" y="317778"/>
            <a:ext cx="89767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Evolution of Distributed Computing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FF1E67-BAAC-D151-EA8A-7BDCC0E8A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750695"/>
              </p:ext>
            </p:extLst>
          </p:nvPr>
        </p:nvGraphicFramePr>
        <p:xfrm>
          <a:off x="2534668" y="1666240"/>
          <a:ext cx="8664747" cy="309117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88249">
                  <a:extLst>
                    <a:ext uri="{9D8B030D-6E8A-4147-A177-3AD203B41FA5}">
                      <a16:colId xmlns:a16="http://schemas.microsoft.com/office/drawing/2014/main" val="2346121560"/>
                    </a:ext>
                  </a:extLst>
                </a:gridCol>
                <a:gridCol w="2888249">
                  <a:extLst>
                    <a:ext uri="{9D8B030D-6E8A-4147-A177-3AD203B41FA5}">
                      <a16:colId xmlns:a16="http://schemas.microsoft.com/office/drawing/2014/main" val="3722069390"/>
                    </a:ext>
                  </a:extLst>
                </a:gridCol>
                <a:gridCol w="2888249">
                  <a:extLst>
                    <a:ext uri="{9D8B030D-6E8A-4147-A177-3AD203B41FA5}">
                      <a16:colId xmlns:a16="http://schemas.microsoft.com/office/drawing/2014/main" val="1426844180"/>
                    </a:ext>
                  </a:extLst>
                </a:gridCol>
              </a:tblGrid>
              <a:tr h="385322">
                <a:tc>
                  <a:txBody>
                    <a:bodyPr/>
                    <a:lstStyle/>
                    <a:p>
                      <a:r>
                        <a:rPr lang="en-IN" sz="1800" b="1"/>
                        <a:t>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Characteristics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255631"/>
                  </a:ext>
                </a:extLst>
              </a:tr>
              <a:tr h="385322">
                <a:tc>
                  <a:txBody>
                    <a:bodyPr/>
                    <a:lstStyle/>
                    <a:p>
                      <a:r>
                        <a:rPr lang="en-IN" sz="1800"/>
                        <a:t>1950–1970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Mainframes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Centralized computing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849207"/>
                  </a:ext>
                </a:extLst>
              </a:tr>
              <a:tr h="385322">
                <a:tc>
                  <a:txBody>
                    <a:bodyPr/>
                    <a:lstStyle/>
                    <a:p>
                      <a:r>
                        <a:rPr lang="en-IN" sz="1800"/>
                        <a:t>1960–1980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Minicomputers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Reduced cost, wider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615008"/>
                  </a:ext>
                </a:extLst>
              </a:tr>
              <a:tr h="385322">
                <a:tc>
                  <a:txBody>
                    <a:bodyPr/>
                    <a:lstStyle/>
                    <a:p>
                      <a:r>
                        <a:rPr lang="en-IN" sz="1800"/>
                        <a:t>1970–1990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Personal Computers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Microprocessor-based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539843"/>
                  </a:ext>
                </a:extLst>
              </a:tr>
              <a:tr h="655048">
                <a:tc>
                  <a:txBody>
                    <a:bodyPr/>
                    <a:lstStyle/>
                    <a:p>
                      <a:r>
                        <a:rPr lang="en-IN" sz="1800"/>
                        <a:t>1980–2000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Portable &amp; Networked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Wired &amp; wireless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60672"/>
                  </a:ext>
                </a:extLst>
              </a:tr>
              <a:tr h="385322">
                <a:tc>
                  <a:txBody>
                    <a:bodyPr/>
                    <a:lstStyle/>
                    <a:p>
                      <a:r>
                        <a:rPr lang="en-IN" sz="1800"/>
                        <a:t>1990–Present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HPC, HTC, Clusters, Clouds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Internet-scale computing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41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37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4424F19-C7DB-832C-46B0-6C3446EA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EFC5C3C-0CF1-D15B-C458-DA3B86AA575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123AEA05-9596-22B3-C48F-975A78D8A3C1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E5C2C8AF-DB6A-1FC3-3596-1F2C2735EAF4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5ABE399-DAA9-EA26-FFD2-513A5B5CB1B3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846F6CD9-E1E9-9A20-A5C3-544E37244E7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1D44CDF8-9D3B-E2B2-E40A-962BCC50822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D88FA44-DC13-2A69-8C5C-183BBDE54B1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83596-8D06-DCF2-5E92-1450DE55B6DA}"/>
              </a:ext>
            </a:extLst>
          </p:cNvPr>
          <p:cNvSpPr txBox="1"/>
          <p:nvPr/>
        </p:nvSpPr>
        <p:spPr>
          <a:xfrm>
            <a:off x="2712850" y="1121956"/>
            <a:ext cx="8803993" cy="627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Distributed Computing: A collection of independent computers that work together as a single coherent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Mainframes (1960s)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 ↓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Clusters (1980s)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 ↓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Grid Computing (1990s)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 ↓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Cloud Computing (2006+)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KEY MILESTONES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1960s: ARPANET (Internet precursor)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1980s: MPI, PVM standards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1990s: Globus Toolkit (Grid)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2006: AWS EC2 launch [file:4]</a:t>
            </a:r>
          </a:p>
          <a:p>
            <a:pPr algn="just">
              <a:lnSpc>
                <a:spcPct val="150000"/>
              </a:lnSpc>
            </a:pPr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EB34A-4CB1-D8B2-904A-3D4EB8ACC45E}"/>
              </a:ext>
            </a:extLst>
          </p:cNvPr>
          <p:cNvSpPr txBox="1"/>
          <p:nvPr/>
        </p:nvSpPr>
        <p:spPr>
          <a:xfrm>
            <a:off x="2717062" y="352515"/>
            <a:ext cx="8857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marL="0" lvl="0" indent="0" defTabSz="914400" eaLnBrk="0" fontAlgn="base" latinLnBrk="0" hangingPunct="0">
              <a:buSzTx/>
              <a:tabLst/>
            </a:pPr>
            <a:r>
              <a:rPr lang="en-US" altLang="en-US" dirty="0"/>
              <a:t>Evolution of 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3236260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56FEE97-FDA0-35C7-4E4D-C5A310BA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99C67B99-AAB8-2669-D7B6-B5144F10362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549F57E-3EED-C625-CA2E-90189A8EBCFF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3CE8D9C-CE47-0D0F-0CE9-6AFBB8352D55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B3BFBBA-2BBD-EDF2-0C56-38406AFD7D42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01203F0-EC7A-D655-0F46-04B64683D4A0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A0A7F19-32A0-F9EA-7C49-106C3F1336E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85708F2-625A-F613-35BB-122002530E7D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E1238-83FC-F37E-BACC-31769EC5A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668" y="227564"/>
            <a:ext cx="8987431" cy="663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39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61004A3-2B0F-F924-5BBA-6D005262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68E2442-00C2-29BD-7270-42C7C8B184FC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1FB27B99-5F02-C48B-42EE-2FEB93BDE10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912ABEB-0078-9804-FA69-DC40D219120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A6B72080-D21E-2745-1BD4-906AB10310EF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8E8360F6-3972-EA7C-81D1-678C2820C679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925C4CF-CC42-48F5-65F6-818CE000F8A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EA66A949-F56D-6324-3388-A83C5C786AA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D2440-BB52-471B-18CA-4698004D614B}"/>
              </a:ext>
            </a:extLst>
          </p:cNvPr>
          <p:cNvSpPr txBox="1"/>
          <p:nvPr/>
        </p:nvSpPr>
        <p:spPr>
          <a:xfrm>
            <a:off x="2574463" y="293467"/>
            <a:ext cx="90001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Over the Internet</a:t>
            </a:r>
            <a:endParaRPr lang="en-IN" sz="16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1F1CD-2C5E-48DE-8288-4335CF14DB5C}"/>
              </a:ext>
            </a:extLst>
          </p:cNvPr>
          <p:cNvSpPr txBox="1"/>
          <p:nvPr/>
        </p:nvSpPr>
        <p:spPr>
          <a:xfrm>
            <a:off x="2712849" y="2043439"/>
            <a:ext cx="8783057" cy="334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cloud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type of parallel and distributed system consisting of a collection of interconnected and virtualized computers that are dynamically provisioned and presented as one or more unified computing resources based on service-level agreements established through negotiation between the service provider and consumers.</a:t>
            </a:r>
          </a:p>
        </p:txBody>
      </p:sp>
    </p:spTree>
    <p:extLst>
      <p:ext uri="{BB962C8B-B14F-4D97-AF65-F5344CB8AC3E}">
        <p14:creationId xmlns:p14="http://schemas.microsoft.com/office/powerpoint/2010/main" val="365798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D1E07B1-1682-3AFF-5B28-78458302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AB1DD6D-E632-A724-08DE-C90E686628A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F9B1B1FE-BCDA-4230-3CF7-4B531BE1B2D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79967DB-127B-D6C6-99F3-04873EFBBEC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2542991-463D-673F-2A34-0D865771F7A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58E9B03-FC2E-1DDF-BF76-928EB7C3E90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01022FD-3656-977B-10A1-4C6BF0A27D7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027A612-7573-05E1-4079-BA0C973F9FD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57FF0-2F1C-79A2-B32B-A2752274A428}"/>
              </a:ext>
            </a:extLst>
          </p:cNvPr>
          <p:cNvSpPr txBox="1"/>
          <p:nvPr/>
        </p:nvSpPr>
        <p:spPr>
          <a:xfrm>
            <a:off x="2574463" y="293467"/>
            <a:ext cx="90001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Over the Internet</a:t>
            </a:r>
            <a:endParaRPr lang="en-IN" sz="16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B4FC5-7CBC-6906-115A-72F7339D5D49}"/>
              </a:ext>
            </a:extLst>
          </p:cNvPr>
          <p:cNvSpPr txBox="1"/>
          <p:nvPr/>
        </p:nvSpPr>
        <p:spPr>
          <a:xfrm>
            <a:off x="2698245" y="1745857"/>
            <a:ext cx="8783057" cy="445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Scalable computing is meant for: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olving big problems efficiently by using many computers connected through the Internet.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Instead of using one single centralized computer, we now use parallel and distributed systems to handle large-scale tasks.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systems have improved the quality of modern life by powering services like Google Search, social media, online shopping, and more.</a:t>
            </a:r>
          </a:p>
        </p:txBody>
      </p:sp>
    </p:spTree>
    <p:extLst>
      <p:ext uri="{BB962C8B-B14F-4D97-AF65-F5344CB8AC3E}">
        <p14:creationId xmlns:p14="http://schemas.microsoft.com/office/powerpoint/2010/main" val="1371640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4E5A8C5-E835-2E2F-8FC5-CAC95DF4C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B5A7766-CB0A-9343-190B-D51C73EE487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15E258B5-560E-FC61-A934-C07AB39105B0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CBED65B-462E-C509-3CEB-D02AAF3220F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58347D89-F4E3-AD6B-F7AD-4B48629A37A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2B1D6D6-AADD-A55F-F00D-BB7F3647780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11552039-7659-72A5-113F-BD7E64CB00C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A47A438F-044B-9AD5-AE52-FE6DDCAAF5D0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B4813E-F9DA-7C6A-4018-035F9A773DF4}"/>
              </a:ext>
            </a:extLst>
          </p:cNvPr>
          <p:cNvSpPr txBox="1"/>
          <p:nvPr/>
        </p:nvSpPr>
        <p:spPr>
          <a:xfrm>
            <a:off x="2574463" y="293467"/>
            <a:ext cx="90001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Over the Internet</a:t>
            </a:r>
            <a:endParaRPr lang="en-IN" sz="16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31B99-DDA1-F43A-34C4-4A021EA094FD}"/>
              </a:ext>
            </a:extLst>
          </p:cNvPr>
          <p:cNvSpPr txBox="1"/>
          <p:nvPr/>
        </p:nvSpPr>
        <p:spPr>
          <a:xfrm>
            <a:off x="2790458" y="1740017"/>
            <a:ext cx="8576450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multiple autonomous computers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Solves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large-scale problems collaboratively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Characteristics: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Data-intensive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Network-centric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Parallel &amp; distributed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201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3A1F07D-DB12-4E2C-24EC-1C9A2A04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373861A-7D6A-0A11-17E7-469BAC4389C9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BD08976F-150B-B0A9-4CC2-4C11A47156C7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720562B-3E28-4B46-60C4-45209026D01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B93E1C84-8B27-66C3-5911-35F52D72D167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8F72FE0F-EB82-51F1-736C-B72B49EED2BF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07C0E4D-777C-DA26-D657-3EE957A23B1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89C1D70-7C6B-87E9-B3DD-C50B07A3AFA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60D4C-6D2E-A771-FC1B-2401E5DC2F61}"/>
              </a:ext>
            </a:extLst>
          </p:cNvPr>
          <p:cNvSpPr txBox="1"/>
          <p:nvPr/>
        </p:nvSpPr>
        <p:spPr>
          <a:xfrm>
            <a:off x="2574463" y="293467"/>
            <a:ext cx="90001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Over the Internet</a:t>
            </a:r>
            <a:endParaRPr lang="en-IN" sz="16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14080-4D26-F684-A599-2F05C08B7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475" y="1666240"/>
            <a:ext cx="6354062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92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F1F5F4D-DF9E-887F-17A9-19CCE103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18B510F-0FA8-A278-27E0-AC3A8F35E7C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141D80D-6B16-BACB-A435-7F1E8263CB47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995B6C2C-E723-B686-6A68-F4C418605005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4579973-8EA4-88EA-D2C0-1E6E744259A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BF295EC-3930-BD6F-C889-917B1B4FDA96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C2F4108-70AC-E252-E72A-8A072C15E54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8234A80-A96C-B2EB-60C6-6CD25D7C909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DF0526-660A-36F0-4EEC-A08AE6B22CE5}"/>
              </a:ext>
            </a:extLst>
          </p:cNvPr>
          <p:cNvSpPr txBox="1"/>
          <p:nvPr/>
        </p:nvSpPr>
        <p:spPr>
          <a:xfrm>
            <a:off x="2574463" y="293467"/>
            <a:ext cx="90001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Over the Internet</a:t>
            </a:r>
            <a:endParaRPr lang="en-IN" sz="16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FA22F-20EB-00A9-3671-F9F691F23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950" y="1801663"/>
            <a:ext cx="6989249" cy="48924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38EAEB-4FDC-AF6C-0B1D-E320B9B8D398}"/>
              </a:ext>
            </a:extLst>
          </p:cNvPr>
          <p:cNvSpPr txBox="1"/>
          <p:nvPr/>
        </p:nvSpPr>
        <p:spPr>
          <a:xfrm>
            <a:off x="7074556" y="5797595"/>
            <a:ext cx="6109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Massively Parallel Processors (MPP)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375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5169AD1-EF5C-684F-3BE7-50AFB7E3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CE4E44D-B97D-1969-6A09-E145DC6C2EC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95C6A1A5-8950-2186-BBEA-859D1AB8C52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3BB5007-482C-C021-CE36-26DC174B7F6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BE380191-74D2-EA24-7AFC-B6B8226757E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EEF2638-B6C0-EC14-6F54-6DE8A9298AB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A275BC68-EB56-759A-6182-CF3D17D183B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9295874A-4E40-2FA3-FA27-DB8F527BB3ED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E0BFB-25D1-3863-7AA4-B479D132277F}"/>
              </a:ext>
            </a:extLst>
          </p:cNvPr>
          <p:cNvSpPr txBox="1"/>
          <p:nvPr/>
        </p:nvSpPr>
        <p:spPr>
          <a:xfrm>
            <a:off x="2574463" y="293467"/>
            <a:ext cx="90001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Over the Internet</a:t>
            </a:r>
            <a:endParaRPr lang="en-IN" sz="16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587C7-67BF-48CB-0872-34F4185022EA}"/>
              </a:ext>
            </a:extLst>
          </p:cNvPr>
          <p:cNvSpPr txBox="1"/>
          <p:nvPr/>
        </p:nvSpPr>
        <p:spPr>
          <a:xfrm>
            <a:off x="2790458" y="1740017"/>
            <a:ext cx="8576450" cy="334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High-Performance Computing (HPC)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Focuses on speed and raw power.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Used in scientific simulations, engineering, weather forecasting, etc.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Measured in floating point operations per second (FLOPS).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Examples: Supercomputers.</a:t>
            </a:r>
          </a:p>
        </p:txBody>
      </p:sp>
    </p:spTree>
    <p:extLst>
      <p:ext uri="{BB962C8B-B14F-4D97-AF65-F5344CB8AC3E}">
        <p14:creationId xmlns:p14="http://schemas.microsoft.com/office/powerpoint/2010/main" val="2429268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5E4A951-1F9C-B0F1-AED0-E4B0F0A3F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B902F135-7AB8-97DC-C296-342A66EFB54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6D0AEBF-EEA6-F5F6-A728-2D949DBB08E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8F004C9-49AD-63BC-FB62-4DC0BFEE058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7576BFD-BED4-0A69-C98D-D077B619F3ED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315460A0-E04A-11F8-894C-865E0709E344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34F135D-FCE8-6BC9-6ECE-9D68B4F72F6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85C31BA-A324-E81C-1003-A794E24699E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EA06D1-F377-D68F-B7C1-B1516CC33783}"/>
              </a:ext>
            </a:extLst>
          </p:cNvPr>
          <p:cNvSpPr txBox="1"/>
          <p:nvPr/>
        </p:nvSpPr>
        <p:spPr>
          <a:xfrm>
            <a:off x="2574463" y="293467"/>
            <a:ext cx="9000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HPC vs HTC Paradigm</a:t>
            </a:r>
            <a:endParaRPr lang="en-IN" sz="16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39C47-1EBE-7E4D-16E1-059F4E37A6A7}"/>
              </a:ext>
            </a:extLst>
          </p:cNvPr>
          <p:cNvSpPr txBox="1"/>
          <p:nvPr/>
        </p:nvSpPr>
        <p:spPr>
          <a:xfrm>
            <a:off x="2712849" y="1462437"/>
            <a:ext cx="8616269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High Performance Computing (HPC)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Focus: </a:t>
            </a:r>
            <a:r>
              <a:rPr lang="en-IN" sz="2000" b="1" dirty="0"/>
              <a:t>Raw speed</a:t>
            </a:r>
            <a:endParaRPr lang="en-IN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Metric: FLOPS (Floating Point Operations Per Second)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Applications: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Scientific simulations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Weather forecasting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Genomics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Engineering design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Supercomputers evolved from: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/>
              <a:t>Gflops</a:t>
            </a:r>
            <a:r>
              <a:rPr lang="en-IN" sz="2000" dirty="0"/>
              <a:t> (1990s)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/>
              <a:t>Pflops</a:t>
            </a:r>
            <a:r>
              <a:rPr lang="en-IN" sz="2000" dirty="0"/>
              <a:t> (2010)</a:t>
            </a:r>
          </a:p>
        </p:txBody>
      </p:sp>
    </p:spTree>
    <p:extLst>
      <p:ext uri="{BB962C8B-B14F-4D97-AF65-F5344CB8AC3E}">
        <p14:creationId xmlns:p14="http://schemas.microsoft.com/office/powerpoint/2010/main" val="3763617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5F59B77-956D-E290-4202-3192FB49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B2D4E453-C8E6-95A8-00E1-8C8D86CB9A9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28D04C4-BF33-EE84-D7C5-5F261E67129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7BB8F452-E618-F143-D23E-6970C65EA541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92B4EE1-46CA-BE0E-B276-FF5F806DE11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D4BB5BC-7689-57FD-D509-EB4075377960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3FFD8D4-84E8-E698-D269-407FC5E5749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87F38718-6E8B-959A-B2C6-EA3C27D116BF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B3794-34E6-4A8B-3251-76CFBD752E4C}"/>
              </a:ext>
            </a:extLst>
          </p:cNvPr>
          <p:cNvSpPr txBox="1"/>
          <p:nvPr/>
        </p:nvSpPr>
        <p:spPr>
          <a:xfrm>
            <a:off x="2574463" y="293467"/>
            <a:ext cx="9000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High-Throughput Computing (HTC)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0B6923-4A2D-64D8-BE1E-79DEDE22F141}"/>
              </a:ext>
            </a:extLst>
          </p:cNvPr>
          <p:cNvSpPr txBox="1"/>
          <p:nvPr/>
        </p:nvSpPr>
        <p:spPr>
          <a:xfrm>
            <a:off x="2622964" y="1474470"/>
            <a:ext cx="8576450" cy="2793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High-Throughput Computing (HTC)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Focuses on completing many tasks at once.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Used in web services, search engines, data centers.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Measures number of jobs completed per second.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Prioritizes cost, energy efficiency,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2570853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1530330-21D8-2341-527F-0D6F7C220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A56C0220-43B6-4702-F5E5-16E88BB026D9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B345881-81E6-9828-BF4B-0CE244D1A7A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9C19739-75DC-68B2-4B4B-EF9F0E524308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BEE7B9B-2738-D0C8-B9C5-9299E3777AC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68C4DB6-C1AE-400C-50AC-0F3391B4492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3B707AB6-6554-A950-54CE-57923B50CFD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B1FB784-B182-B74B-D418-ABA7BE158E07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531D94-B8A6-5AA6-AE7F-25E1C48C1974}"/>
              </a:ext>
            </a:extLst>
          </p:cNvPr>
          <p:cNvSpPr txBox="1"/>
          <p:nvPr/>
        </p:nvSpPr>
        <p:spPr>
          <a:xfrm>
            <a:off x="2574463" y="293467"/>
            <a:ext cx="90001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Over the Internet</a:t>
            </a:r>
            <a:endParaRPr lang="en-IN" sz="16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1C88E8D-DD80-F5E9-515A-D7B8FE702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068" y="2153000"/>
            <a:ext cx="9000187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891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23F2BE9-EF7D-C9E0-D4BB-95D44C68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A62BA90-A402-F4A5-503D-B9765D8D7E5C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91752B2D-C12F-4982-D553-FC4F6143E08A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51A7EAD-A5FE-5A74-04A7-B7CF5AAACEDE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5B84EDF-4FEA-4673-E5E1-083AE0557D3D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0766C956-DC16-A02A-9F93-3319DAF0C12D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7C3BA94C-7300-0454-25CE-047FDD88313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6BA874A3-123E-6D8A-A757-68470E2957A7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4F30F1-92B1-BCF6-6EBA-E6DF0196ACA9}"/>
              </a:ext>
            </a:extLst>
          </p:cNvPr>
          <p:cNvSpPr txBox="1"/>
          <p:nvPr/>
        </p:nvSpPr>
        <p:spPr>
          <a:xfrm>
            <a:off x="2574463" y="293467"/>
            <a:ext cx="9000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The Platform Evolution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9EB93-72CB-D0BE-F3AB-93BA4362DB03}"/>
              </a:ext>
            </a:extLst>
          </p:cNvPr>
          <p:cNvSpPr txBox="1"/>
          <p:nvPr/>
        </p:nvSpPr>
        <p:spPr>
          <a:xfrm>
            <a:off x="2599237" y="1062908"/>
            <a:ext cx="8896670" cy="556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general computing trend is to leverage shared web resources and massive amounts of data over the Internet.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• Figure illustrated the evolution of HPC and HTC systems.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• On the HPC side, supercomputers (massively parallel processors or MPPs) are gradually replaced by clusters of cooperative computers out of a desire to share computing resources.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• The cluster is often a collection of homogeneous computing nodes that are physically connected in close range to one another.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968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4E309A9-FB14-817D-BCDE-D9FD5F31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5569847-6F29-1651-AF65-B40E906D39A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F449BBA8-7079-B857-E983-43322F0A6FE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607AED6E-6D01-C8BE-E8C4-85D942CF7EE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00C5B97D-2107-E5BE-E997-3CF37ADC577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38DBE07-AAF4-D17F-1C05-D9D7099544D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CCF10B89-9164-1C22-4C5F-870C56FF5FF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90D26B8B-A713-7A3C-947F-4FC6A0DDD69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55109-4932-EC2A-F0FE-BE07E71B5975}"/>
              </a:ext>
            </a:extLst>
          </p:cNvPr>
          <p:cNvSpPr txBox="1"/>
          <p:nvPr/>
        </p:nvSpPr>
        <p:spPr>
          <a:xfrm>
            <a:off x="2574463" y="293467"/>
            <a:ext cx="9000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The Platform Evolution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EFA21-2949-3D17-C5AF-45EFD565C027}"/>
              </a:ext>
            </a:extLst>
          </p:cNvPr>
          <p:cNvSpPr txBox="1"/>
          <p:nvPr/>
        </p:nvSpPr>
        <p:spPr>
          <a:xfrm>
            <a:off x="2712849" y="1356374"/>
            <a:ext cx="9041058" cy="500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On the HTC side, peer-to-peer (P2P) networks are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formed for distributed file sharing and content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delivery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• A P2P system is built over many client machines.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– Peer machines are globally distributed in nature.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• P2P, cloud computing, and web service platforms are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more focused on HTC applications than on HPC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• Clustering and P2P technologies lead to the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development of computational grids or data grids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280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63F808A-DA6E-F03D-A160-766C52C2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9718D343-1B19-B7D5-9B74-E984E684DD47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CF274C3-BA94-6FD2-9556-EA8A49CE4205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BE2A8C17-2475-5702-9B9D-AAED23AA538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E6C1010-F700-21A1-8A39-BCA225174EE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5D683B7-D977-123F-3020-C9A8F5683AF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AAA5D101-B02B-1DED-C73F-4CAC8F39DB7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FEF89C5-4C67-2C53-CC24-63342931940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41496-A44C-366D-F332-3A52C1E37479}"/>
              </a:ext>
            </a:extLst>
          </p:cNvPr>
          <p:cNvSpPr txBox="1"/>
          <p:nvPr/>
        </p:nvSpPr>
        <p:spPr>
          <a:xfrm>
            <a:off x="2574463" y="293467"/>
            <a:ext cx="9000187" cy="982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High-Throughput Computing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A0E27-AD96-EFF4-AEB7-97CCC65901DA}"/>
              </a:ext>
            </a:extLst>
          </p:cNvPr>
          <p:cNvSpPr txBox="1"/>
          <p:nvPr/>
        </p:nvSpPr>
        <p:spPr>
          <a:xfrm>
            <a:off x="2723360" y="1331425"/>
            <a:ext cx="9000187" cy="556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development of market-oriented high-end computing systems is undergoing a strategic change from an HPC paradigm to an HTC paradigm.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• This HTC paradigm pays more attention to high-flux computing.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main application for high-flux computing is in Internet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searches and web services by millions or more users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– The performance goal thus shifts to measure high throughput or the number of tasks completed per unit of time.</a:t>
            </a:r>
          </a:p>
        </p:txBody>
      </p:sp>
    </p:spTree>
    <p:extLst>
      <p:ext uri="{BB962C8B-B14F-4D97-AF65-F5344CB8AC3E}">
        <p14:creationId xmlns:p14="http://schemas.microsoft.com/office/powerpoint/2010/main" val="4064453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BE6E6F1-5F84-4F92-D332-0592DBB86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5120DE03-55E2-0390-CC90-18F59E80BFB8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F66EFC0-83DF-673A-6B3C-145C3C1B71F3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39791C12-B171-D1E2-0419-4C3296C64E44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C5F4349-00D8-6723-79A9-8843613CF9F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AAAEA64-BB09-8E2B-AD02-1D3662935029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7673FB98-41B6-DB4B-D418-2FAEBB60D56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717258ED-534A-6B32-37A2-8FB370FE259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39E571-D432-F53E-19D9-CA5F0D84487F}"/>
              </a:ext>
            </a:extLst>
          </p:cNvPr>
          <p:cNvSpPr txBox="1"/>
          <p:nvPr/>
        </p:nvSpPr>
        <p:spPr>
          <a:xfrm>
            <a:off x="2574463" y="293467"/>
            <a:ext cx="9000187" cy="982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High-Throughput Computing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9E434-5F66-6579-6F55-143DE3618563}"/>
              </a:ext>
            </a:extLst>
          </p:cNvPr>
          <p:cNvSpPr txBox="1"/>
          <p:nvPr/>
        </p:nvSpPr>
        <p:spPr>
          <a:xfrm>
            <a:off x="2723360" y="1331425"/>
            <a:ext cx="9000187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Focus: </a:t>
            </a:r>
            <a:r>
              <a:rPr lang="en-US" sz="1800" b="1" dirty="0"/>
              <a:t>Number of jobs per unit time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Metric: Throughput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Applications</a:t>
            </a:r>
            <a:r>
              <a:rPr lang="en-US" sz="18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Web search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E-commerce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Social media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Data centers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HTC emphasizes: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Cost efficiency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Energy savings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Reliability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057097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326BF74-E365-7A61-45B8-A8F393B2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B5852C5-93E7-739B-4150-C225AE744E23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869A224-8806-BA79-0A19-E310FB8A6B17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8C0785D-A338-6FA1-3F04-AC5A5643E9B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3CE6EDAB-F482-B058-3934-5A887A631B2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AD42A86-AFE1-DE10-D49F-1CD7868FAC8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72FCE26-DB88-AB80-756B-FE24093800A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9A048CF-87DF-C601-B115-4EF179BDA438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7BEA7-14D6-6B69-01CF-E64620078195}"/>
              </a:ext>
            </a:extLst>
          </p:cNvPr>
          <p:cNvSpPr txBox="1"/>
          <p:nvPr/>
        </p:nvSpPr>
        <p:spPr>
          <a:xfrm>
            <a:off x="2574463" y="293467"/>
            <a:ext cx="90001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Revisiting - Evolution Toward Parallel, Distributed &amp; Cloud Computing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3D77A58-4073-9282-C9D5-45A78DEB0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070" y="2511112"/>
            <a:ext cx="6400836" cy="385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52970-2201-CB9F-D6AB-57F7EBF2576A}"/>
              </a:ext>
            </a:extLst>
          </p:cNvPr>
          <p:cNvSpPr txBox="1"/>
          <p:nvPr/>
        </p:nvSpPr>
        <p:spPr>
          <a:xfrm>
            <a:off x="8951496" y="2710591"/>
            <a:ext cx="2544411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HPC Side: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Homogeneous nodes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Clusters / MPPs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Centralized control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High-speed interconnects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B09DB3-A5D7-9ADB-A673-A5D1DB4164D8}"/>
              </a:ext>
            </a:extLst>
          </p:cNvPr>
          <p:cNvCxnSpPr/>
          <p:nvPr/>
        </p:nvCxnSpPr>
        <p:spPr>
          <a:xfrm>
            <a:off x="8855244" y="2236470"/>
            <a:ext cx="0" cy="4134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754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10F5DAC-80C4-42D4-D18C-82F2936C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8AE4336-1778-5858-B584-3EDD44404BDB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3120C20-EDDC-174E-8C25-19B11A520C33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B91310BE-C0B1-8C34-0657-D53C6D28E7F8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8A7C6A5-F9A2-192E-7A5A-2C43FC4BCDE2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B3F4D066-1962-DD3F-A8B9-E1AF9F95E42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8D368F8-D01B-DE49-C655-B4DDC7E4EBA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BEAFF0D-9CEF-02F3-A82E-B4AC23E6003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C9055-AD4A-136B-9839-0DF16C402679}"/>
              </a:ext>
            </a:extLst>
          </p:cNvPr>
          <p:cNvSpPr txBox="1"/>
          <p:nvPr/>
        </p:nvSpPr>
        <p:spPr>
          <a:xfrm>
            <a:off x="2574463" y="293467"/>
            <a:ext cx="90001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Revisiting - Evolution Toward Parallel, Distributed &amp; Cloud Computing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0174C2-C20F-373F-9EC8-36E554910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070" y="2511112"/>
            <a:ext cx="6400836" cy="385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5CB36E-A669-4FBD-E828-3703FA2BBE8F}"/>
              </a:ext>
            </a:extLst>
          </p:cNvPr>
          <p:cNvSpPr txBox="1"/>
          <p:nvPr/>
        </p:nvSpPr>
        <p:spPr>
          <a:xfrm>
            <a:off x="8951496" y="2710591"/>
            <a:ext cx="263775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HTC Side:</a:t>
            </a: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P2P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Web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SOA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Cloud computing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Internet of Things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Both converge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Computational grids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Internet clouds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0DEC9B-CA70-4679-BE7F-791A89A54FDB}"/>
              </a:ext>
            </a:extLst>
          </p:cNvPr>
          <p:cNvCxnSpPr/>
          <p:nvPr/>
        </p:nvCxnSpPr>
        <p:spPr>
          <a:xfrm>
            <a:off x="8855244" y="2236470"/>
            <a:ext cx="0" cy="4134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033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09480A2-7601-B0D1-933F-2499725D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7246DC9-F987-CEC0-FB63-1CEAC9600E4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F2C368AA-C3B6-4A0A-46BF-2D420374249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C877223-A1F9-F93D-B9FD-0C38989566B4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20FBCED5-71A1-C9A4-E238-85186EA9045E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BAF3BE2-E65F-398A-9B46-7984894EA300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101CB900-CAC3-13B8-2EEE-D1A76EBC930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EF26BC60-B95E-AD76-2528-CA3B71875A6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8FE7C1-6E03-CB7D-4762-F303E3F1E57E}"/>
              </a:ext>
            </a:extLst>
          </p:cNvPr>
          <p:cNvSpPr txBox="1"/>
          <p:nvPr/>
        </p:nvSpPr>
        <p:spPr>
          <a:xfrm>
            <a:off x="2574463" y="293467"/>
            <a:ext cx="95640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evolution of cloud computing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D25C973-9AD1-7211-C202-2C8A89887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245" y="1196007"/>
            <a:ext cx="8023649" cy="560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829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9DD901A-72C4-B18B-0F9B-388D447A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B8D9D49-D371-AB40-5C65-E735B943582E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4E11518-B024-C87B-0920-86615F2A65F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F175120-95BC-8AFD-818F-285896DBC3E8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08D356B6-E7C9-ED8C-0EEA-C71CBC961B9C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87D676F-82AF-4C76-1046-6A9EA9A74B34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C3D7735-0475-AD30-BBE7-39B93EF5F11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1E9E71B-6972-BB57-F10A-17D11C65F7C9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725726-F19B-AF33-5143-4DA9BD39ACF9}"/>
              </a:ext>
            </a:extLst>
          </p:cNvPr>
          <p:cNvSpPr txBox="1"/>
          <p:nvPr/>
        </p:nvSpPr>
        <p:spPr>
          <a:xfrm>
            <a:off x="2574463" y="293467"/>
            <a:ext cx="95640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Three New Computing Paradigms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10ADE-FA48-12B1-6C75-F79E25835E42}"/>
              </a:ext>
            </a:extLst>
          </p:cNvPr>
          <p:cNvSpPr txBox="1"/>
          <p:nvPr/>
        </p:nvSpPr>
        <p:spPr>
          <a:xfrm>
            <a:off x="2698244" y="1372416"/>
            <a:ext cx="8413039" cy="431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Service-Oriented Architecture (SOA)</a:t>
            </a:r>
            <a:endParaRPr lang="en-US" sz="2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Computing (via </a:t>
            </a:r>
            <a:r>
              <a:rPr lang="en-US" sz="2000" b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virtualisation</a:t>
            </a:r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 of Things (IoT)</a:t>
            </a:r>
            <a:endParaRPr lang="en-US" sz="2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slogans reflecting paradigm shift: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“The network is the computer.”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“The data center is the computer.”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“The cloud is the computer.”</a:t>
            </a:r>
          </a:p>
        </p:txBody>
      </p:sp>
    </p:spTree>
    <p:extLst>
      <p:ext uri="{BB962C8B-B14F-4D97-AF65-F5344CB8AC3E}">
        <p14:creationId xmlns:p14="http://schemas.microsoft.com/office/powerpoint/2010/main" val="3760553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C767908-9B0A-CF0B-568D-65E6D04B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A1B0DC9-4641-A389-19E1-546D466D507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7AB762A2-E7B0-0740-FC4C-052816E7B76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E0A07423-6534-0ED0-E2D8-60277D2FC57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0B0DE04-DB95-D923-B4FA-97926AC35C9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E6E4754-8C3C-E9F8-A202-807C0C99D8F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CFE254C8-1E3D-F398-8705-F2F35944F77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840CB2EF-A153-6C09-2180-6541FC887E6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F139F0-CCB4-2E97-D264-906637501D59}"/>
              </a:ext>
            </a:extLst>
          </p:cNvPr>
          <p:cNvSpPr txBox="1"/>
          <p:nvPr/>
        </p:nvSpPr>
        <p:spPr>
          <a:xfrm>
            <a:off x="2574463" y="293467"/>
            <a:ext cx="9564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Computing Paradigm Distinctions Snap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B3ACA-B209-99AD-6D31-28B0B8F32896}"/>
              </a:ext>
            </a:extLst>
          </p:cNvPr>
          <p:cNvSpPr txBox="1"/>
          <p:nvPr/>
        </p:nvSpPr>
        <p:spPr>
          <a:xfrm>
            <a:off x="2698244" y="1372416"/>
            <a:ext cx="5723861" cy="596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Centralized Computing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All resources in one physical system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Tightly coupled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Parallel Computing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Multiple processors working simultaneously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Shared memory or message passing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Distributed Computing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Multiple autonomous computers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Connected via network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Communicate through message passing</a:t>
            </a:r>
          </a:p>
          <a:p>
            <a:pPr>
              <a:lnSpc>
                <a:spcPct val="150000"/>
              </a:lnSpc>
            </a:pPr>
            <a:endParaRPr lang="en-US" sz="16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A13D8-0DC4-0B65-9AEB-33235569BE17}"/>
              </a:ext>
            </a:extLst>
          </p:cNvPr>
          <p:cNvSpPr txBox="1"/>
          <p:nvPr/>
        </p:nvSpPr>
        <p:spPr>
          <a:xfrm>
            <a:off x="8414832" y="1476669"/>
            <a:ext cx="3088348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Cloud Computing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Virtualized resource pool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Delivered as service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Can be centralized or distributed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6BF3C0-DBC2-8C01-4B5E-AC4B82755BFE}"/>
              </a:ext>
            </a:extLst>
          </p:cNvPr>
          <p:cNvCxnSpPr/>
          <p:nvPr/>
        </p:nvCxnSpPr>
        <p:spPr>
          <a:xfrm>
            <a:off x="7892716" y="1372416"/>
            <a:ext cx="0" cy="5349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169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4B81DC4-8195-AAE1-15AE-547A6AFDF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AF26D109-E7E1-7053-5CC9-03C9A9E2C72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9B231690-75B5-8575-8CD3-82C06B49DC5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AC5E59A7-9EB8-FF99-8FCC-39801B5454E2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A543F48-51FE-0608-3217-D804452E4C4E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A281E07-D55B-5F2E-902C-8C318C2C121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6310E35-E9D4-6D99-4F89-A98751A410F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710B2BE8-A6D5-F7B7-6060-1DB3489389D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7DA468-A0B0-FF96-88EF-8D51C474A1FA}"/>
              </a:ext>
            </a:extLst>
          </p:cNvPr>
          <p:cNvSpPr txBox="1"/>
          <p:nvPr/>
        </p:nvSpPr>
        <p:spPr>
          <a:xfrm>
            <a:off x="2574463" y="293467"/>
            <a:ext cx="9564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Distributed System Families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B96AA-0760-B572-D531-2DE646187288}"/>
              </a:ext>
            </a:extLst>
          </p:cNvPr>
          <p:cNvSpPr txBox="1"/>
          <p:nvPr/>
        </p:nvSpPr>
        <p:spPr>
          <a:xfrm>
            <a:off x="2574463" y="1633262"/>
            <a:ext cx="5723861" cy="2597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Clusters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Computational grids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P2P networks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Internet clouds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22B780-F39B-9AC9-8AC5-FB14742F41C1}"/>
              </a:ext>
            </a:extLst>
          </p:cNvPr>
          <p:cNvCxnSpPr>
            <a:cxnSpLocks/>
          </p:cNvCxnSpPr>
          <p:nvPr/>
        </p:nvCxnSpPr>
        <p:spPr>
          <a:xfrm flipH="1">
            <a:off x="4331368" y="1633262"/>
            <a:ext cx="5005137" cy="4851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AAA441-4A81-6A2E-6E37-9594258C78E2}"/>
              </a:ext>
            </a:extLst>
          </p:cNvPr>
          <p:cNvSpPr txBox="1"/>
          <p:nvPr/>
        </p:nvSpPr>
        <p:spPr>
          <a:xfrm>
            <a:off x="8298324" y="3240855"/>
            <a:ext cx="2565460" cy="3244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Design goals: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Efficiency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Dependability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Adaptation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Flexibility</a:t>
            </a:r>
          </a:p>
        </p:txBody>
      </p:sp>
    </p:spTree>
    <p:extLst>
      <p:ext uri="{BB962C8B-B14F-4D97-AF65-F5344CB8AC3E}">
        <p14:creationId xmlns:p14="http://schemas.microsoft.com/office/powerpoint/2010/main" val="2539542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770B05F-C672-4F61-6D85-62C3F55E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D198B43-B288-D0B4-1476-21F4DD4691B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9EF90B6-E254-4374-28A4-89FFDE02258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68B1254-EB66-C17D-1A93-DF4D1814F6F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B3D3473-1B54-20E6-DD40-84BBA0452214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87C872F-4EB9-BCED-44DD-E5BD6984795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3CDF60E2-7BF8-3D3B-1C18-9CABABA0A30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A4D1E60E-6267-98BD-E67B-B43F624D5044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5F2A07-67CE-10AD-AAC9-BF407E08C0DD}"/>
              </a:ext>
            </a:extLst>
          </p:cNvPr>
          <p:cNvSpPr txBox="1"/>
          <p:nvPr/>
        </p:nvSpPr>
        <p:spPr>
          <a:xfrm>
            <a:off x="2574463" y="293467"/>
            <a:ext cx="9564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Trends and New Paradigms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665DD-CDCF-EB33-882A-244B83C47ACA}"/>
              </a:ext>
            </a:extLst>
          </p:cNvPr>
          <p:cNvSpPr txBox="1"/>
          <p:nvPr/>
        </p:nvSpPr>
        <p:spPr>
          <a:xfrm>
            <a:off x="2574463" y="1568011"/>
            <a:ext cx="8624951" cy="499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Technology trends influencing distributed systems: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Moore’s Law</a:t>
            </a:r>
            <a:r>
              <a:rPr lang="en-US" sz="2400" dirty="0"/>
              <a:t> – Processor speed doubles ~18 months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Moore's Law is the 1965 observation by Intel co-founder Gordon Moore that the number of transistors on a microchip doubles approximately every two years, accompanied by2 decreased costs and increased performance.</a:t>
            </a:r>
            <a:endParaRPr lang="en-US" sz="2400" dirty="0"/>
          </a:p>
        </p:txBody>
      </p:sp>
      <p:pic>
        <p:nvPicPr>
          <p:cNvPr id="5122" name="Picture 2" descr="Gordon Moore's law was the spur that drove the digital revolution">
            <a:extLst>
              <a:ext uri="{FF2B5EF4-FFF2-40B4-BE49-F238E27FC236}">
                <a16:creationId xmlns:a16="http://schemas.microsoft.com/office/drawing/2014/main" id="{2A3FE3AB-EF07-A3A7-E7EA-6EB56F5C5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75" y="4692095"/>
            <a:ext cx="2224898" cy="187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808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5C8BD25-3DDE-E3E5-D199-F0967099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A38C1E1-59B7-B397-AB35-39BFC852E3C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B36A146-F51D-A6DD-84D3-C1ECA0ECEEE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958F4E62-42B0-5FFB-499D-1032C02AC7A4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26D4283-885D-9BDD-3C54-30483082DC22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B61C7873-D4DE-AA6C-0302-1C10754E1B9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7ABDEEE2-1B77-D5D7-8130-71A8F21531C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989B5AFE-87CE-FD48-9227-E5C7A7D8209C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0334A-6EBA-1864-FFF6-7948B0E1B8B5}"/>
              </a:ext>
            </a:extLst>
          </p:cNvPr>
          <p:cNvSpPr txBox="1"/>
          <p:nvPr/>
        </p:nvSpPr>
        <p:spPr>
          <a:xfrm>
            <a:off x="2574463" y="293467"/>
            <a:ext cx="9564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Scalable Computing Trends and New Paradigms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059D1-827A-B1BA-B4F6-57E54AAE2DA5}"/>
              </a:ext>
            </a:extLst>
          </p:cNvPr>
          <p:cNvSpPr txBox="1"/>
          <p:nvPr/>
        </p:nvSpPr>
        <p:spPr>
          <a:xfrm>
            <a:off x="2574463" y="2108698"/>
            <a:ext cx="8807831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Technology trends influencing distributed systems: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Gilder’s Law</a:t>
            </a:r>
            <a:r>
              <a:rPr lang="en-US" sz="2400" dirty="0"/>
              <a:t> – Network bandwidth doubles yearly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Gilder's Law, formulated by futurist George Gilder in the 1990s, states that the total bandwidth of communication systems triples every twelve months, growing at least three times faster than computing power.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4098" name="Picture 2" descr="Interview with George Gilder on The Soul of Enterprise">
            <a:extLst>
              <a:ext uri="{FF2B5EF4-FFF2-40B4-BE49-F238E27FC236}">
                <a16:creationId xmlns:a16="http://schemas.microsoft.com/office/drawing/2014/main" id="{DED72D3A-83EF-E7DA-F746-A8A7C8977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0" y="4740328"/>
            <a:ext cx="2278380" cy="191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948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4788A3D-38CB-7262-8361-531A3FEF9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B19F4E03-F487-F742-F252-AD0DC9B31B09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0B39A2E6-BE15-E919-7FDA-92BC0C351A2A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D8076CF7-4875-89FA-56EB-929C14455ED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B277C459-2381-ABB8-3D6C-8A7AF9599BA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1AD8FE4A-40FE-7686-2691-D1505629A120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4C4B103-D180-07A7-0A9F-B477F2CF761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226D5F6-0F30-C39F-E123-D23E0618D32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638AFD-5F0C-F24A-92D3-CF81C7FD06FC}"/>
              </a:ext>
            </a:extLst>
          </p:cNvPr>
          <p:cNvSpPr txBox="1"/>
          <p:nvPr/>
        </p:nvSpPr>
        <p:spPr>
          <a:xfrm>
            <a:off x="2574463" y="293467"/>
            <a:ext cx="9564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Degrees of Parallelism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84ED8-09F7-8CA5-B269-7D7663A4F0BD}"/>
              </a:ext>
            </a:extLst>
          </p:cNvPr>
          <p:cNvSpPr txBox="1"/>
          <p:nvPr/>
        </p:nvSpPr>
        <p:spPr>
          <a:xfrm>
            <a:off x="2574463" y="1666240"/>
            <a:ext cx="4844633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accent2"/>
                </a:solidFill>
              </a:rPr>
              <a:t>Parallelism exists at multiple levels: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/>
              <a:t>Bit-Level Parallelism (BLP)</a:t>
            </a:r>
            <a:br>
              <a:rPr lang="en-IN" sz="1800" dirty="0"/>
            </a:br>
            <a:r>
              <a:rPr lang="en-IN" sz="1800" dirty="0"/>
              <a:t>4-bit → 8-bit → 16-bit → 64-bit processors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/>
              <a:t>Instruction-Level Parallelism (ILP)</a:t>
            </a:r>
            <a:endParaRPr lang="en-IN" sz="1800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Pipelining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Superscalar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Branch prediction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Speculative execution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/>
              <a:t>Data-Level Parallelism (DLP)</a:t>
            </a:r>
            <a:endParaRPr lang="en-IN" sz="1800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SIMD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Vector processors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61C79-D1EA-9553-6C1A-961C683AB412}"/>
              </a:ext>
            </a:extLst>
          </p:cNvPr>
          <p:cNvSpPr txBox="1"/>
          <p:nvPr/>
        </p:nvSpPr>
        <p:spPr>
          <a:xfrm>
            <a:off x="7868652" y="1294819"/>
            <a:ext cx="6112042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4. Task-Level Parallelism (TLP)</a:t>
            </a:r>
            <a:endParaRPr lang="en-IN" sz="1800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Multicore processors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5. Job-Level Parallelism (JLP)</a:t>
            </a:r>
            <a:endParaRPr lang="en-IN" sz="1800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Distributed systems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Cloud platforms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BD951C-A26B-3FD8-F1C4-6068A52B6B29}"/>
              </a:ext>
            </a:extLst>
          </p:cNvPr>
          <p:cNvSpPr txBox="1"/>
          <p:nvPr/>
        </p:nvSpPr>
        <p:spPr>
          <a:xfrm>
            <a:off x="2571529" y="6564533"/>
            <a:ext cx="7002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Single Instruction, Multiple Data (SIMD)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89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02FD644-30B9-E570-3903-F4F1D7FF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72A2EA8-45EF-1DD3-D87F-0BD6DC68293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F232D26F-399A-A6C9-0DE3-CCC26ABCC43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EBC45F08-4901-1391-0BBA-2CED8664F9E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968DFE00-1FBB-7B8F-26D6-03469203293F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F93BCC7-0E08-FAC2-9021-09B5864FE6B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9937EC0A-07BD-16A2-46B0-50F90AC51ED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E1BFDB8-6C09-7C6D-2573-A692DD3D4DC7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6D78D3-5C2F-1EF0-9137-A93CF79C9B80}"/>
              </a:ext>
            </a:extLst>
          </p:cNvPr>
          <p:cNvSpPr txBox="1"/>
          <p:nvPr/>
        </p:nvSpPr>
        <p:spPr>
          <a:xfrm>
            <a:off x="2574463" y="293467"/>
            <a:ext cx="9564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Degrees of Parallelism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F20FB-2C74-FE25-B9C4-016956A767E5}"/>
              </a:ext>
            </a:extLst>
          </p:cNvPr>
          <p:cNvSpPr txBox="1"/>
          <p:nvPr/>
        </p:nvSpPr>
        <p:spPr>
          <a:xfrm>
            <a:off x="2574463" y="912018"/>
            <a:ext cx="4989981" cy="556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Utility computing: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Resources delivered like electricity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Pay-as-you-use model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Characteristics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Ubiquitous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Reliable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Scalable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Autonomic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SLA-based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4E2D1-593F-6254-E287-19FC8338D1C2}"/>
              </a:ext>
            </a:extLst>
          </p:cNvPr>
          <p:cNvSpPr txBox="1"/>
          <p:nvPr/>
        </p:nvSpPr>
        <p:spPr>
          <a:xfrm>
            <a:off x="8182546" y="2764505"/>
            <a:ext cx="3016868" cy="128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Cloud computing extends utility computing.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53D44-4777-810C-D97F-6584187FB67C}"/>
              </a:ext>
            </a:extLst>
          </p:cNvPr>
          <p:cNvSpPr/>
          <p:nvPr/>
        </p:nvSpPr>
        <p:spPr>
          <a:xfrm>
            <a:off x="7949067" y="2622884"/>
            <a:ext cx="3250347" cy="19008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977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A1A6C3F-944C-E984-A300-E24942E3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2FC5398-727A-1365-8D18-9D1E6262CAEC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0C3F604E-E747-7246-3DDA-FADA0D5BAD0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4D5D182-F2BE-17D5-4098-D0B925DBFA8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BA7ADB48-B112-A736-7E3E-533542A014E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2975E185-6CD2-D2A5-ECA8-A6FF40BEF8E1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A0C10C8-F6E2-8D66-4D1B-CB526142B28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749A2EDD-868D-605C-F25A-6D1F15226124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A2A74B-DF79-9869-8C03-3DC600445D10}"/>
              </a:ext>
            </a:extLst>
          </p:cNvPr>
          <p:cNvSpPr txBox="1"/>
          <p:nvPr/>
        </p:nvSpPr>
        <p:spPr>
          <a:xfrm>
            <a:off x="2574463" y="293467"/>
            <a:ext cx="9564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Internet of Things (IoT) and Cyber-Physical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12E32-C9A9-C625-773B-267AEEA3F80F}"/>
              </a:ext>
            </a:extLst>
          </p:cNvPr>
          <p:cNvSpPr txBox="1"/>
          <p:nvPr/>
        </p:nvSpPr>
        <p:spPr>
          <a:xfrm>
            <a:off x="2574464" y="912018"/>
            <a:ext cx="4753184" cy="4732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Internet of Things (IoT)</a:t>
            </a:r>
            <a:br>
              <a:rPr lang="en-US" sz="2400" dirty="0"/>
            </a:br>
            <a:r>
              <a:rPr lang="en-US" sz="2000" dirty="0"/>
              <a:t>Networked interconnection of everyday objects.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400" b="1" dirty="0"/>
              <a:t>Enabled by: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RFID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Sensors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GPS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IPv6 (2¹²⁸ addresses)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343A33-959D-32AF-1F40-D7FBCED48E0E}"/>
              </a:ext>
            </a:extLst>
          </p:cNvPr>
          <p:cNvSpPr txBox="1"/>
          <p:nvPr/>
        </p:nvSpPr>
        <p:spPr>
          <a:xfrm>
            <a:off x="7765740" y="816687"/>
            <a:ext cx="4426260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Communication types: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H2H (Human-to-Human)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H2T (Human-to-Thing)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T2T (Thing-to-Thing)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Scale: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100 trillion objects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Thousands of connected devices per person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9FF75E-F8BC-597D-D5D1-EA1A09E79348}"/>
              </a:ext>
            </a:extLst>
          </p:cNvPr>
          <p:cNvCxnSpPr/>
          <p:nvPr/>
        </p:nvCxnSpPr>
        <p:spPr>
          <a:xfrm>
            <a:off x="7327648" y="1266564"/>
            <a:ext cx="0" cy="52184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380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563693B-9E00-D1F5-9F10-16107CDB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3DC9114-D870-43B6-960C-D8550D222A1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EE6F015-BA47-C85B-98C9-FC23768E3C1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CBFA781-7745-AA1B-B731-244041C0DE9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596D220-F8F2-8020-E38A-CC49EE1B2B2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FAF0DE4-62B5-173E-5FFF-750FD4E19D31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37EA168-EF81-39EE-E9E2-7EFBB4BC951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6CDFB77B-B5E1-F5D5-0FB3-BB91964CE918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C8F40-2ADD-68D9-89BE-1977F362BAB1}"/>
              </a:ext>
            </a:extLst>
          </p:cNvPr>
          <p:cNvSpPr txBox="1"/>
          <p:nvPr/>
        </p:nvSpPr>
        <p:spPr>
          <a:xfrm>
            <a:off x="2574463" y="293467"/>
            <a:ext cx="9564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Internet of Things (IoT) and Cyber-Physical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EEDF4-7B9F-A870-A565-BC5140DD3E6B}"/>
              </a:ext>
            </a:extLst>
          </p:cNvPr>
          <p:cNvSpPr txBox="1"/>
          <p:nvPr/>
        </p:nvSpPr>
        <p:spPr>
          <a:xfrm>
            <a:off x="2523070" y="1000702"/>
            <a:ext cx="8921443" cy="5563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Cyber-Physical Systems (CPS)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CPS integrates: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Computation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Communication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Control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2"/>
                </a:solidFill>
              </a:rPr>
              <a:t>IoT → Connectivity</a:t>
            </a:r>
            <a:br>
              <a:rPr lang="en-US" sz="2400" dirty="0">
                <a:solidFill>
                  <a:schemeClr val="accent2"/>
                </a:solidFill>
              </a:rPr>
            </a:br>
            <a:r>
              <a:rPr lang="en-US" sz="2400" dirty="0">
                <a:solidFill>
                  <a:schemeClr val="accent2"/>
                </a:solidFill>
              </a:rPr>
              <a:t>CPS → Intelligent feedback between physical &amp; cyber world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579B260-ADE0-5CA1-DFE1-1D0B06D34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148" y="1495211"/>
            <a:ext cx="6112313" cy="4415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5908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F3857EA-A4A2-548F-7719-17E9C9C9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4C399BF-FAF7-6983-E6E0-223B7F277D9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39AA799-057B-36DE-990C-EC898F160B4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AC01A254-E015-4DA3-BEB1-F76923555E01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0182A689-40A8-7FEF-0F3E-FF83EB1311A7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6519D43B-90E6-B80C-0BD6-820E415B25F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9873E941-9D88-53FD-7E78-017D4519CAE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0E0F61A-F6B0-1E51-CC51-055CCE480A4E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C54E37-7CC4-6200-412D-3F737013E37C}"/>
              </a:ext>
            </a:extLst>
          </p:cNvPr>
          <p:cNvSpPr txBox="1"/>
          <p:nvPr/>
        </p:nvSpPr>
        <p:spPr>
          <a:xfrm>
            <a:off x="2574463" y="293467"/>
            <a:ext cx="9564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Technologies for Network-Based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F6A39-0036-A202-DB42-3F0B6F710003}"/>
              </a:ext>
            </a:extLst>
          </p:cNvPr>
          <p:cNvSpPr txBox="1"/>
          <p:nvPr/>
        </p:nvSpPr>
        <p:spPr>
          <a:xfrm>
            <a:off x="2574463" y="1171708"/>
            <a:ext cx="5005819" cy="5563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Multicore CPUs and Multithreading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Modern CPUs: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Dual-core, quad-core, many-core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Private L1 cache per core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Shared L2/L3 cache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Multithreading types: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Superscalar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Fine-grain multithreading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Coarse-grain multithreading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38AC4-404A-E945-9C7F-AE783D4FD22C}"/>
              </a:ext>
            </a:extLst>
          </p:cNvPr>
          <p:cNvSpPr txBox="1"/>
          <p:nvPr/>
        </p:nvSpPr>
        <p:spPr>
          <a:xfrm>
            <a:off x="7630540" y="1171708"/>
            <a:ext cx="3994367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Dual-core CMP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Simultaneous multithreading (SMT)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b="1" dirty="0"/>
              <a:t>Clock frequency limited due 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Heat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Power consumption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A18A1E-80BB-220E-6D54-38375CB7A2E5}"/>
              </a:ext>
            </a:extLst>
          </p:cNvPr>
          <p:cNvCxnSpPr/>
          <p:nvPr/>
        </p:nvCxnSpPr>
        <p:spPr>
          <a:xfrm>
            <a:off x="7484030" y="1171708"/>
            <a:ext cx="0" cy="5563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598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9E12B4C-2EB9-0447-662C-16113560D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AC68DB3-38A2-02F6-F2A7-D30073BEFDE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6AED7F3-4CFA-3BAE-D2AF-E749A42FCA1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7EF2586-8C01-A00E-B2F8-13F8AE47B0BB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5C2B1E5-2064-3BA1-B74D-FC3B295F6856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540BA6B-2343-4EC4-9CF1-535DDC0333B6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949B39A-0A47-EFF3-3102-4BC375338E2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064B5CC0-4218-5E55-C265-D87E9ACD431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BA38A-5777-8561-9162-FF8178641184}"/>
              </a:ext>
            </a:extLst>
          </p:cNvPr>
          <p:cNvSpPr txBox="1"/>
          <p:nvPr/>
        </p:nvSpPr>
        <p:spPr>
          <a:xfrm>
            <a:off x="2574464" y="293467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Multicore CPUs and Multithreading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20D1A-7CF7-26B2-2BD0-35CFDCAA75DA}"/>
              </a:ext>
            </a:extLst>
          </p:cNvPr>
          <p:cNvSpPr txBox="1"/>
          <p:nvPr/>
        </p:nvSpPr>
        <p:spPr>
          <a:xfrm>
            <a:off x="2460068" y="1171708"/>
            <a:ext cx="9035837" cy="4118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1255"/>
              </a:spcBef>
              <a:spcAft>
                <a:spcPts val="0"/>
              </a:spcAft>
              <a:buFont typeface="Arial MT"/>
              <a:buChar char="•"/>
              <a:tabLst>
                <a:tab pos="890905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Both</a:t>
            </a:r>
            <a:r>
              <a:rPr lang="en-US" sz="2400" spc="-1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multi-core</a:t>
            </a:r>
            <a:r>
              <a:rPr lang="en-US" sz="2400" b="1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CPU</a:t>
            </a:r>
            <a:r>
              <a:rPr lang="en-US" sz="2400" b="1" spc="-9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many-core</a:t>
            </a:r>
            <a:r>
              <a:rPr lang="en-US" sz="2400" b="1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GPU</a:t>
            </a:r>
            <a:r>
              <a:rPr lang="en-US" sz="2400" b="1" spc="-9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processors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can</a:t>
            </a:r>
            <a:r>
              <a:rPr lang="en-US" sz="24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handle</a:t>
            </a:r>
            <a:r>
              <a:rPr lang="en-IN" sz="2400" dirty="0"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multiple</a:t>
            </a:r>
            <a:r>
              <a:rPr lang="en-US" sz="2400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instruction</a:t>
            </a:r>
            <a:r>
              <a:rPr lang="en-US" sz="24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threads</a:t>
            </a:r>
            <a:r>
              <a:rPr lang="en-US" sz="24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at</a:t>
            </a:r>
            <a:r>
              <a:rPr lang="en-US" sz="24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different</a:t>
            </a:r>
            <a:r>
              <a:rPr lang="en-US" sz="24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magnitudes</a:t>
            </a:r>
            <a:r>
              <a:rPr lang="en-US" sz="24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today.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 MT"/>
              <a:buChar char="•"/>
              <a:tabLst>
                <a:tab pos="890905" algn="l"/>
              </a:tabLst>
            </a:pP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Figure</a:t>
            </a:r>
            <a:r>
              <a:rPr lang="en-US" sz="2400" b="1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1.5</a:t>
            </a:r>
            <a:r>
              <a:rPr lang="en-US" sz="2400" b="1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shows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architecture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typical</a:t>
            </a:r>
            <a:r>
              <a:rPr lang="en-US" sz="2400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multicore</a:t>
            </a:r>
            <a:r>
              <a:rPr lang="en-US" sz="2400" b="1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</a:t>
            </a:r>
            <a:r>
              <a:rPr lang="en-US" sz="2400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.</a:t>
            </a:r>
            <a:endParaRPr lang="en-IN" sz="24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lvl="0" indent="-34290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 MT"/>
              <a:buChar char="•"/>
              <a:tabLst>
                <a:tab pos="890905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Each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core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is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essentially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with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its</a:t>
            </a:r>
            <a:r>
              <a:rPr lang="en-US" sz="24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own</a:t>
            </a:r>
            <a:r>
              <a:rPr lang="en-US" sz="24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private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cache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(</a:t>
            </a:r>
            <a:r>
              <a:rPr lang="en-US" sz="2400" b="1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L1</a:t>
            </a:r>
            <a:r>
              <a:rPr lang="en-IN" sz="2400" dirty="0"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cache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666750" lvl="0" indent="-34290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Multiple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cores</a:t>
            </a:r>
            <a:r>
              <a:rPr lang="en-US" sz="24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are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housed</a:t>
            </a:r>
            <a:r>
              <a:rPr lang="en-US" sz="2400" spc="-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1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same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chip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with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L2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cache that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is shared by all cores.</a:t>
            </a:r>
            <a:endParaRPr lang="en-IN" sz="24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8795775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941CC21-8D2E-D356-929E-09AF83DD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C79BEB5-5BBF-E48D-5073-33F1A86C4DF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06020CB3-E004-67B4-E7EA-BE44EB628E9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38573CA-5170-5079-C24C-BD6877C07674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2601B908-1C02-7449-927D-BAC835F1B612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BAF5FE3-45E5-8053-8CE0-132472E23DB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05D5DC6-5788-4AC6-4D21-D9250B39B6C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A865A00-86CC-90BB-640E-26D1EC9A67FD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4536BB-48C9-524E-1979-8575E2546EFB}"/>
              </a:ext>
            </a:extLst>
          </p:cNvPr>
          <p:cNvSpPr txBox="1"/>
          <p:nvPr/>
        </p:nvSpPr>
        <p:spPr>
          <a:xfrm>
            <a:off x="2574464" y="293467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Multicore CPUs and Multithreading Technologies</a:t>
            </a:r>
          </a:p>
        </p:txBody>
      </p:sp>
      <p:pic>
        <p:nvPicPr>
          <p:cNvPr id="3" name="Image 5">
            <a:extLst>
              <a:ext uri="{FF2B5EF4-FFF2-40B4-BE49-F238E27FC236}">
                <a16:creationId xmlns:a16="http://schemas.microsoft.com/office/drawing/2014/main" id="{93697A12-D1B0-8C8A-9520-683D4599AB03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27950" y="1211761"/>
            <a:ext cx="8409656" cy="535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60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CB7F835-D393-1D12-AB89-89505EC0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DCCAD07-5D8D-7064-FF8D-25F2A823088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B5DBE35-1BB4-DDFC-3C91-6A4AC843162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3461FEC2-6DC6-D17A-A82B-3D2F04F585AE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12C346B-DB60-32FE-F4BD-517DA554F9B2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35D9EDD-56D8-D0D3-8164-415EF9EB548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3D16B58-594D-32CE-2ECB-46215B40EF3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1600887-018C-3AC4-FF6A-2AC738927899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D4C90C-943A-21A3-86B3-F79004D3FB7F}"/>
              </a:ext>
            </a:extLst>
          </p:cNvPr>
          <p:cNvSpPr txBox="1"/>
          <p:nvPr/>
        </p:nvSpPr>
        <p:spPr>
          <a:xfrm>
            <a:off x="2574464" y="293467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Multicore CPUs and Multithreading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58F6C-21B2-124D-EAB8-EE96403024CE}"/>
              </a:ext>
            </a:extLst>
          </p:cNvPr>
          <p:cNvSpPr txBox="1"/>
          <p:nvPr/>
        </p:nvSpPr>
        <p:spPr>
          <a:xfrm>
            <a:off x="2574463" y="1171708"/>
            <a:ext cx="9000187" cy="4685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899795" lvl="0" indent="-342900">
              <a:lnSpc>
                <a:spcPct val="150000"/>
              </a:lnSpc>
              <a:spcBef>
                <a:spcPts val="505"/>
              </a:spcBef>
              <a:spcAft>
                <a:spcPts val="0"/>
              </a:spcAft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future,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multiple</a:t>
            </a:r>
            <a:r>
              <a:rPr lang="en-US" sz="24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CMPs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could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be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built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on</a:t>
            </a:r>
            <a:r>
              <a:rPr lang="en-US" sz="24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same</a:t>
            </a:r>
            <a:r>
              <a:rPr lang="en-US" sz="2400" spc="-1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CPU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chip with even the L3 cache on the chip.</a:t>
            </a:r>
            <a:endParaRPr lang="en-IN" sz="24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865505" lvl="0" indent="-342900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Multicore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multithreaded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CPUs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are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equipped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with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many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high- end processors, including the Intel i7, Xeon, AMD</a:t>
            </a:r>
            <a:r>
              <a:rPr lang="en-US" sz="2400" spc="40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Opteron, Sun Niagara, IBM Power 6, and X cell processors.</a:t>
            </a:r>
            <a:endParaRPr lang="en-IN" sz="24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693420" lvl="0" indent="-342900">
              <a:lnSpc>
                <a:spcPct val="150000"/>
              </a:lnSpc>
              <a:spcBef>
                <a:spcPts val="625"/>
              </a:spcBef>
              <a:spcAft>
                <a:spcPts val="0"/>
              </a:spcAft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Each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core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could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be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also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multithreaded.</a:t>
            </a:r>
            <a:r>
              <a:rPr lang="en-US" sz="2400" spc="3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</a:p>
          <a:p>
            <a:pPr marR="693420" lvl="0">
              <a:lnSpc>
                <a:spcPct val="150000"/>
              </a:lnSpc>
              <a:spcBef>
                <a:spcPts val="625"/>
              </a:spcBef>
              <a:spcAft>
                <a:spcPts val="0"/>
              </a:spcAft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For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example,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Niagara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II is built with eight cores with eight threads handled by each core.</a:t>
            </a:r>
            <a:endParaRPr lang="en-IN" sz="24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7E557-7700-119C-204C-5E1E9D2098B0}"/>
              </a:ext>
            </a:extLst>
          </p:cNvPr>
          <p:cNvSpPr txBox="1"/>
          <p:nvPr/>
        </p:nvSpPr>
        <p:spPr>
          <a:xfrm>
            <a:off x="2574463" y="6410644"/>
            <a:ext cx="61120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CMP - Chip Multiprocessor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091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3D32462-E8E4-04BC-AA32-80C4961B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E88BC29-8C0F-9157-DF62-A71C7651A3B8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F328A783-6D10-FEFA-6CBB-F1496C3B1ED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769B73CD-5C03-F526-3EA0-C830D8CD7E94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6D641EF-ED49-09BB-119F-FBF4EE54E72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087CA4B-90E2-1470-3BEB-407E417DD756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DF0531D-44E1-2ADE-B2D4-36F20210914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0EE739D-0ABD-E3AF-CA24-F7C238FEAA3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00B736-EFE3-065D-62CE-961CAEC1DC25}"/>
              </a:ext>
            </a:extLst>
          </p:cNvPr>
          <p:cNvSpPr txBox="1"/>
          <p:nvPr/>
        </p:nvSpPr>
        <p:spPr>
          <a:xfrm>
            <a:off x="2574464" y="293467"/>
            <a:ext cx="943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Multicore CPU and Many-Core GPU Architectures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DF54E-5A1C-597A-850F-34E0D63639D6}"/>
              </a:ext>
            </a:extLst>
          </p:cNvPr>
          <p:cNvSpPr txBox="1"/>
          <p:nvPr/>
        </p:nvSpPr>
        <p:spPr>
          <a:xfrm>
            <a:off x="2574463" y="1171708"/>
            <a:ext cx="9014792" cy="4749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179195" lvl="0" indent="-342900" algn="just">
              <a:lnSpc>
                <a:spcPct val="150000"/>
              </a:lnSpc>
              <a:spcBef>
                <a:spcPts val="1770"/>
              </a:spcBef>
              <a:spcAft>
                <a:spcPts val="0"/>
              </a:spcAft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CPU has reached its limit in terms of exploiting massive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DLP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due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aforementioned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memory wall problem.</a:t>
            </a:r>
            <a:endParaRPr lang="en-IN" sz="105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1146175" lvl="0" indent="-342900" algn="just">
              <a:lnSpc>
                <a:spcPct val="150000"/>
              </a:lnSpc>
              <a:spcBef>
                <a:spcPts val="705"/>
              </a:spcBef>
              <a:spcAft>
                <a:spcPts val="0"/>
              </a:spcAft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This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has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triggered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development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many-core GPUs with hundreds or more thin cores.</a:t>
            </a:r>
            <a:endParaRPr lang="en-IN" sz="105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569595" lvl="0" indent="-342900" algn="just">
              <a:lnSpc>
                <a:spcPct val="150000"/>
              </a:lnSpc>
              <a:spcBef>
                <a:spcPts val="695"/>
              </a:spcBef>
              <a:spcAft>
                <a:spcPts val="0"/>
              </a:spcAft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Both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IA-32((Intel Architecture)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IA-64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instruction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set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architectures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are built into commercial CPUs.</a:t>
            </a:r>
            <a:endParaRPr lang="en-IN" sz="105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941705" lvl="0" indent="-34290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Now,</a:t>
            </a:r>
            <a:r>
              <a:rPr lang="en-US" sz="2400" spc="-1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x-86</a:t>
            </a:r>
            <a:r>
              <a:rPr lang="en-US" sz="24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processors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have</a:t>
            </a:r>
            <a:r>
              <a:rPr lang="en-US" sz="2400" spc="-1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been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extended</a:t>
            </a:r>
            <a:r>
              <a:rPr lang="en-US" sz="24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spc="-11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serve HPC and HTC systems in some high-end server </a:t>
            </a:r>
            <a:r>
              <a:rPr lang="en-US" sz="2400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processors.</a:t>
            </a:r>
            <a:endParaRPr lang="en-IN" sz="105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979058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3A9B0F4-6C8F-41D9-C492-8D799BCB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816A46CB-BA34-3F81-4DA6-8807D0444181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6144543-FA18-725F-45E5-3A0DDD7B3BF1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8DD36408-3008-913A-4181-F1720629905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7683586-386B-D4B5-71DB-A5CF305B6E1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37D6B35-1CE0-A18A-2725-21E2CD56CC96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19AD2B6-9355-BAFA-3030-F705BC2487E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B8B21EF-7058-548C-169B-BDDF536AD0BE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E35D3-0366-F8D0-7825-C6193BB5095A}"/>
              </a:ext>
            </a:extLst>
          </p:cNvPr>
          <p:cNvSpPr txBox="1"/>
          <p:nvPr/>
        </p:nvSpPr>
        <p:spPr>
          <a:xfrm>
            <a:off x="2574464" y="30182"/>
            <a:ext cx="9617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Multicore CPU and Many-Core GPU Architectures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ADC74-643E-EEA3-D7BE-A2F60EF94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068" y="980471"/>
            <a:ext cx="9035838" cy="584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43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6F9A103-DF0E-B45F-520F-3DBA14CC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720A7BC-C5B3-7364-1FBD-957CCEACAD73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C666F1D6-38BB-3EB1-60B8-BDDB5AB9978F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1AF280D6-7C34-EE36-A77D-4A93103757D0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AB79EBC8-01BD-4B78-8239-9716DB48193A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B49774A-E61E-6EA0-4BD2-8039A574A8F0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E3D7CB7-53AE-ACBF-B3D9-ED499A2650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22BB970-12CE-2FA5-5345-4F3D074797D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DD1B4E-AAF2-839A-7763-0CFEEDD9BE44}"/>
              </a:ext>
            </a:extLst>
          </p:cNvPr>
          <p:cNvSpPr txBox="1"/>
          <p:nvPr/>
        </p:nvSpPr>
        <p:spPr>
          <a:xfrm>
            <a:off x="2574464" y="30182"/>
            <a:ext cx="9617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Multicore CPU and Many-Core GPU Architectures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CA7997-0FAC-9B3F-9D06-40819030F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068" y="1073166"/>
            <a:ext cx="8930822" cy="570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599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09CCD46-1450-7F8B-44FA-2B3B8CF7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4B254F5-D03C-C377-3B50-72F6ECBE6F3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A892DCD-4C7C-CCED-8F8E-A766476545E0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C82CA3C-0713-B394-A97D-42E2BC9F2C6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47E2FC1-6263-6AA6-8F4A-54EEEEE759F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3C5C24A-9553-F39D-3F8D-DB21F5A18829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AA246DF2-BB2F-2A4E-E8DE-DB6DD731F4B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E043D6CA-D8C0-83A5-CEA2-1C113995220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C2F611-DD01-6E80-AD86-BD1EEAD786FC}"/>
              </a:ext>
            </a:extLst>
          </p:cNvPr>
          <p:cNvSpPr txBox="1"/>
          <p:nvPr/>
        </p:nvSpPr>
        <p:spPr>
          <a:xfrm>
            <a:off x="2574464" y="293467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Multicore CPU and Many-Core GPU Architectures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1E3EB-6680-417E-156E-90D5FCEA5D53}"/>
              </a:ext>
            </a:extLst>
          </p:cNvPr>
          <p:cNvSpPr txBox="1"/>
          <p:nvPr/>
        </p:nvSpPr>
        <p:spPr>
          <a:xfrm>
            <a:off x="2610386" y="990827"/>
            <a:ext cx="8885520" cy="575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677545" lvl="0" indent="-342900" algn="just">
              <a:lnSpc>
                <a:spcPct val="150000"/>
              </a:lnSpc>
              <a:spcBef>
                <a:spcPts val="57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Many RISC(Reduced Instruction Set Computer) processors have been replaced with multicore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x-86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processors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many core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GPUs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 Top 500 systems.</a:t>
            </a:r>
            <a:endParaRPr lang="en-IN" sz="105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405765" lvl="0" indent="-342900" algn="just">
              <a:lnSpc>
                <a:spcPct val="150000"/>
              </a:lnSpc>
              <a:spcBef>
                <a:spcPts val="705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This</a:t>
            </a:r>
            <a:r>
              <a:rPr lang="en-US" sz="2400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trend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indicates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that</a:t>
            </a:r>
            <a:r>
              <a:rPr lang="en-US" sz="2400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x-86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upgrades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will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dominate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 data centers and supercomputers.</a:t>
            </a:r>
            <a:endParaRPr lang="en-IN" sz="105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447675" lvl="0" indent="-342900" algn="just">
              <a:lnSpc>
                <a:spcPct val="150000"/>
              </a:lnSpc>
              <a:spcBef>
                <a:spcPts val="695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GPU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also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has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been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applied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large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clusters</a:t>
            </a:r>
            <a:r>
              <a:rPr lang="en-US" sz="24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build supercomputers in MPPs.</a:t>
            </a:r>
            <a:endParaRPr lang="en-IN" sz="105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algn="just">
              <a:lnSpc>
                <a:spcPct val="150000"/>
              </a:lnSpc>
            </a:pP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 the future, the processor industry is also keen to develop asymmetric or heterogeneous chip multiprocessors</a:t>
            </a:r>
            <a:r>
              <a:rPr lang="en-US" sz="2400" i="1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that</a:t>
            </a:r>
            <a:r>
              <a:rPr lang="en-US" sz="2400" i="1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can</a:t>
            </a:r>
            <a:r>
              <a:rPr lang="en-US" sz="2400" i="1" spc="-7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house</a:t>
            </a:r>
            <a:r>
              <a:rPr lang="en-US" sz="2400" i="1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both</a:t>
            </a:r>
            <a:r>
              <a:rPr lang="en-US" sz="2400" i="1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fat</a:t>
            </a:r>
            <a:r>
              <a:rPr lang="en-US" sz="2400" i="1" spc="-7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CPU</a:t>
            </a:r>
            <a:r>
              <a:rPr lang="en-US" sz="2400" i="1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cores</a:t>
            </a:r>
            <a:r>
              <a:rPr lang="en-US" sz="2400" i="1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 thin GPU cores on the same chip.</a:t>
            </a:r>
            <a:endParaRPr lang="en-IN" sz="1050" i="1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6966813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71CEFBC-5A8A-7623-6ED4-37904AD0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A43814C7-A54F-DFE6-FD15-7C8930C7C8E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B635100E-8EB6-83F5-0152-DBC671889829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BFF46E6-BE98-28EF-C332-5CFC4466B1B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B799212-55B8-3BDA-B50B-E2DD6358531D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E5BC47E-9FDA-75F3-C23E-8FC7C9C6F597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F5599BD-661D-D58E-5C21-02FE0ACAC2E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0A1EA66-BD26-1092-5C0B-2419AF89791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FC89B-F914-8F14-A7B5-2B25CDC159A4}"/>
              </a:ext>
            </a:extLst>
          </p:cNvPr>
          <p:cNvSpPr txBox="1"/>
          <p:nvPr/>
        </p:nvSpPr>
        <p:spPr>
          <a:xfrm>
            <a:off x="2571888" y="-2"/>
            <a:ext cx="9182019" cy="614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" algn="ctr">
              <a:lnSpc>
                <a:spcPct val="150000"/>
              </a:lnSpc>
            </a:pPr>
            <a:r>
              <a:rPr lang="en-US" sz="40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Multithreading</a:t>
            </a:r>
            <a:r>
              <a:rPr lang="en-US" sz="4000" b="1" kern="0" spc="-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4000" b="1" kern="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Technology</a:t>
            </a:r>
            <a:endParaRPr lang="en-IN" sz="4000" b="1" kern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431800" lvl="0" indent="-342900">
              <a:lnSpc>
                <a:spcPct val="150000"/>
              </a:lnSpc>
              <a:spcBef>
                <a:spcPts val="2065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Consider in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Figure 1.6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 dispatch of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five independent threads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 instructions to four pipelined data paths (functional units) in each of the following five processor categories, from left to right: </a:t>
            </a:r>
          </a:p>
          <a:p>
            <a:pPr marL="342900" marR="431800" lvl="0" indent="-342900">
              <a:spcBef>
                <a:spcPts val="2065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 four-issue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superscalar processor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,</a:t>
            </a:r>
            <a:r>
              <a:rPr lang="en-US" sz="24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</a:p>
          <a:p>
            <a:pPr marL="342900" marR="431800" lvl="0" indent="-342900">
              <a:spcBef>
                <a:spcPts val="2065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fine-grain</a:t>
            </a:r>
            <a:r>
              <a:rPr lang="en-US" sz="2400" i="1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multithreaded</a:t>
            </a:r>
            <a:r>
              <a:rPr lang="en-US" sz="2400" i="1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processor,</a:t>
            </a:r>
            <a:r>
              <a:rPr lang="en-US" sz="2400" i="1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</a:p>
          <a:p>
            <a:pPr marL="342900" marR="431800" lvl="0" indent="-342900">
              <a:spcBef>
                <a:spcPts val="2065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739140" algn="l"/>
              </a:tabLst>
            </a:pP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i="1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coarse- grain multithreaded processor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, </a:t>
            </a:r>
          </a:p>
          <a:p>
            <a:pPr marL="342900" marR="431800" lvl="0" indent="-342900">
              <a:spcBef>
                <a:spcPts val="2065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two-core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CMP</a:t>
            </a:r>
          </a:p>
          <a:p>
            <a:pPr marL="342900" marR="431800" lvl="0" indent="-342900">
              <a:spcBef>
                <a:spcPts val="2065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simultaneous multithreaded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(SMT) processor.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60896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5D0ABB4-8B61-0AAC-6CD7-AEDB1BA3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961A2D6-4F13-A9B4-0F25-415A358B07A8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15331368-8E55-151F-2528-301E766BAA19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51D3845-2416-D9E6-9C3B-AA44B8FA10B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ABBF1A16-0C87-C691-BE26-3A6A2BD51E5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D729E67F-B5B5-0273-71AE-7F0C8341C83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204681B-31B2-BB5C-41B5-E39A7B5088E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71020E98-5172-AFF9-5D0A-D948446C9F60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 6">
            <a:extLst>
              <a:ext uri="{FF2B5EF4-FFF2-40B4-BE49-F238E27FC236}">
                <a16:creationId xmlns:a16="http://schemas.microsoft.com/office/drawing/2014/main" id="{1A0AB84C-AE81-954C-5194-85C60588A274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12850" y="898658"/>
            <a:ext cx="8570501" cy="52130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F1BD66-892E-D2CD-4151-F880425107F8}"/>
              </a:ext>
            </a:extLst>
          </p:cNvPr>
          <p:cNvSpPr txBox="1"/>
          <p:nvPr/>
        </p:nvSpPr>
        <p:spPr>
          <a:xfrm>
            <a:off x="3041431" y="0"/>
            <a:ext cx="6109138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" algn="ctr">
              <a:lnSpc>
                <a:spcPct val="150000"/>
              </a:lnSpc>
            </a:pPr>
            <a:r>
              <a:rPr lang="en-US" sz="20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Multithreading</a:t>
            </a:r>
            <a:r>
              <a:rPr lang="en-US" sz="2000" b="1" kern="0" spc="-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b="1" kern="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Technology</a:t>
            </a:r>
            <a:endParaRPr lang="en-IN" sz="2000" b="1" kern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2950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C77350D-4EAD-1B97-12B4-D0338BFA0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7C2CB9F-9307-00D0-314F-48C6908FC0B2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7A99DCD6-4E52-31CE-BB56-A27261F79AAE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974E4C46-721F-CA78-9CF0-700F5EE93734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0D643E7A-B969-81BA-DFF1-A0061346C831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899F448D-853F-753A-5947-1C0B7ED6E654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8F187EB-A28C-5D0D-72C4-8DFA92F5A07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62B6192D-80AA-90F3-13CA-B2601A5E83A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E999E-FA33-7C81-234C-B7032191E828}"/>
              </a:ext>
            </a:extLst>
          </p:cNvPr>
          <p:cNvSpPr txBox="1"/>
          <p:nvPr/>
        </p:nvSpPr>
        <p:spPr>
          <a:xfrm>
            <a:off x="2571888" y="-2"/>
            <a:ext cx="9182019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" algn="ctr">
              <a:lnSpc>
                <a:spcPct val="150000"/>
              </a:lnSpc>
            </a:pPr>
            <a:r>
              <a:rPr lang="en-US" sz="40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Multithreading</a:t>
            </a:r>
            <a:r>
              <a:rPr lang="en-US" sz="4000" b="1" kern="0" spc="-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4000" b="1" kern="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Technology</a:t>
            </a:r>
            <a:endParaRPr lang="en-IN" sz="4000" b="1" kern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431800" lvl="0" indent="-342900">
              <a:spcBef>
                <a:spcPts val="2065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739140" algn="l"/>
              </a:tabLst>
            </a:pPr>
            <a:endParaRPr lang="en-IN" sz="11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904240" lvl="0" indent="-342900">
              <a:lnSpc>
                <a:spcPct val="150000"/>
              </a:lnSpc>
              <a:spcBef>
                <a:spcPts val="57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9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superscalar</a:t>
            </a:r>
            <a:r>
              <a:rPr lang="en-US" sz="2400" spc="-1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</a:t>
            </a:r>
            <a:r>
              <a:rPr lang="en-US" sz="24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is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single-threaded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with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four functional units.</a:t>
            </a:r>
            <a:endParaRPr lang="en-IN" sz="11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784225" lvl="0" indent="-342900">
              <a:lnSpc>
                <a:spcPct val="150000"/>
              </a:lnSpc>
              <a:spcBef>
                <a:spcPts val="625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Each</a:t>
            </a:r>
            <a:r>
              <a:rPr lang="en-US" sz="2400" spc="-1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10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three</a:t>
            </a:r>
            <a:r>
              <a:rPr lang="en-US" sz="24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multithreaded</a:t>
            </a:r>
            <a:r>
              <a:rPr lang="en-US" sz="2400" spc="-1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processors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is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four-way multithreaded over four functional data paths.</a:t>
            </a:r>
            <a:endParaRPr lang="en-IN" sz="11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</a:t>
            </a:r>
            <a:r>
              <a:rPr lang="en-US" sz="2400" spc="-1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2400" spc="-1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dual-core</a:t>
            </a:r>
            <a:r>
              <a:rPr lang="en-US" sz="2400" spc="-1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processor,</a:t>
            </a:r>
            <a:r>
              <a:rPr lang="en-US" sz="2400" spc="-1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assume</a:t>
            </a:r>
            <a:r>
              <a:rPr lang="en-US" sz="2400" spc="-1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two</a:t>
            </a:r>
            <a:r>
              <a:rPr lang="en-US" sz="2400" spc="-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processing</a:t>
            </a:r>
            <a:r>
              <a:rPr lang="en-US" sz="2400" spc="-1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cores, each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single-threaded</a:t>
            </a:r>
            <a:r>
              <a:rPr lang="en-US" sz="24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two-way superscalar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processor</a:t>
            </a:r>
            <a:endParaRPr lang="en-IN" sz="2400" dirty="0"/>
          </a:p>
          <a:p>
            <a:pPr marR="431800" lvl="0">
              <a:spcBef>
                <a:spcPts val="2065"/>
              </a:spcBef>
              <a:spcAft>
                <a:spcPts val="0"/>
              </a:spcAft>
              <a:tabLst>
                <a:tab pos="739140" algn="l"/>
              </a:tabLst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102555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0FD04E2-8BFE-EAA8-11AA-C293F661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966B7EF-BEBF-CB93-5963-729B3C3EBBF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1B44F160-9E45-76E4-98ED-6B47EAA3F98A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A83D3326-C330-1FF2-5D6B-FF7F53BF1A4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E838EAFB-C332-3889-A993-1BB9D9121FA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8BF9A60-CFC0-AA6C-C0B3-BCB76F4EEFE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F376C38-70FE-8941-C53C-6A17E196D92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95585D7A-A71E-BFC6-87BE-5E34D4483E0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14B269-2AB4-49FC-3628-037242B12F19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GPU Computing to Exa-scale and Beyond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F86DD-DAE8-09F6-DBE3-FBD68054563D}"/>
              </a:ext>
            </a:extLst>
          </p:cNvPr>
          <p:cNvSpPr txBox="1"/>
          <p:nvPr/>
        </p:nvSpPr>
        <p:spPr>
          <a:xfrm>
            <a:off x="2610386" y="990827"/>
            <a:ext cx="8885520" cy="580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677545" lvl="0" indent="-342900" algn="just">
              <a:lnSpc>
                <a:spcPct val="150000"/>
              </a:lnSpc>
              <a:spcBef>
                <a:spcPts val="57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Unlike CPUs, GPUs have a throughput architecture that exploits massive parallelism by executing many concurrent threads.</a:t>
            </a:r>
          </a:p>
          <a:p>
            <a:pPr marL="342900" marR="677545" lvl="0" indent="-342900" algn="just">
              <a:lnSpc>
                <a:spcPct val="150000"/>
              </a:lnSpc>
              <a:spcBef>
                <a:spcPts val="57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dirty="0">
                <a:latin typeface="Calibri" panose="020F0502020204030204" pitchFamily="34" charset="0"/>
                <a:ea typeface="Arial MT"/>
                <a:cs typeface="Arial MT"/>
              </a:rPr>
              <a:t>S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lowly, instead of executing a single long thread in a conventional microprocessor very quickly.</a:t>
            </a:r>
          </a:p>
          <a:p>
            <a:pPr marL="342900" marR="677545" lvl="0" indent="-342900" algn="just">
              <a:lnSpc>
                <a:spcPct val="150000"/>
              </a:lnSpc>
              <a:spcBef>
                <a:spcPts val="57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Lately, parallel GPUs or GPU clusters have been garnering a lot of attention against the use of CPUs with limited parallelism.</a:t>
            </a:r>
          </a:p>
          <a:p>
            <a:pPr marR="677545" lvl="0" algn="ctr">
              <a:lnSpc>
                <a:spcPct val="150000"/>
              </a:lnSpc>
              <a:spcBef>
                <a:spcPts val="570"/>
              </a:spcBef>
              <a:spcAft>
                <a:spcPts val="0"/>
              </a:spcAft>
              <a:tabLst>
                <a:tab pos="739140" algn="l"/>
              </a:tabLst>
            </a:pPr>
            <a:r>
              <a:rPr lang="en-US" sz="2400" b="1" spc="0" dirty="0">
                <a:solidFill>
                  <a:schemeClr val="accent5"/>
                </a:solidFill>
                <a:effectLst/>
                <a:latin typeface="Calibri" panose="020F0502020204030204" pitchFamily="34" charset="0"/>
                <a:ea typeface="Arial MT"/>
                <a:cs typeface="Arial MT"/>
              </a:rPr>
              <a:t>General-purpose computing on GPUs, known as GPGPUs, have appeared in the HPC field.</a:t>
            </a:r>
          </a:p>
        </p:txBody>
      </p:sp>
    </p:spTree>
    <p:extLst>
      <p:ext uri="{BB962C8B-B14F-4D97-AF65-F5344CB8AC3E}">
        <p14:creationId xmlns:p14="http://schemas.microsoft.com/office/powerpoint/2010/main" val="14336277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F667F77-2289-5FF8-C355-203E08F7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BAED695-7EDF-8DA7-1F2E-5D12B53E788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65420C7-B539-2BD8-5BC2-23BE3EE43B80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C4A2F5C-6598-DF22-6681-E8964CBA2AAE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B3578FF0-FBF7-B4AD-47BC-BFDF8542228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C09126F-A7A9-6868-BEA6-626A8FCE987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3B233968-1C15-C02A-1CA8-035E080577C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7916F12-608E-9834-7C13-9A46746573D0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6A825C-F41E-A467-9B46-75EA5D9EBEA0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GPU Computing to Exa-scale and Beyond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BE1F6-2F21-B647-5313-7842026D7B4B}"/>
              </a:ext>
            </a:extLst>
          </p:cNvPr>
          <p:cNvSpPr txBox="1"/>
          <p:nvPr/>
        </p:nvSpPr>
        <p:spPr>
          <a:xfrm>
            <a:off x="2523069" y="990827"/>
            <a:ext cx="9230838" cy="589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910"/>
              </a:spcBef>
              <a:spcAft>
                <a:spcPts val="0"/>
              </a:spcAft>
              <a:buSzPts val="2400"/>
              <a:buFont typeface="Arial MT"/>
              <a:buChar char="•"/>
              <a:tabLst>
                <a:tab pos="662305" algn="l"/>
              </a:tabLst>
            </a:pP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Early</a:t>
            </a:r>
            <a:r>
              <a:rPr lang="en-US" sz="28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GPUs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functioned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as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coprocessors</a:t>
            </a:r>
            <a:r>
              <a:rPr lang="en-US" sz="28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attached</a:t>
            </a:r>
            <a:r>
              <a:rPr lang="en-US" sz="28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-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CPU.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742950" lvl="1" indent="-285750">
              <a:lnSpc>
                <a:spcPts val="2905"/>
              </a:lnSpc>
              <a:spcBef>
                <a:spcPts val="530"/>
              </a:spcBef>
              <a:spcAft>
                <a:spcPts val="0"/>
              </a:spcAft>
              <a:buSzPts val="2400"/>
              <a:buFont typeface="Arial MT"/>
              <a:buChar char="•"/>
              <a:tabLst>
                <a:tab pos="662305" algn="l"/>
              </a:tabLst>
            </a:pP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Today,</a:t>
            </a:r>
            <a:r>
              <a:rPr lang="en-US" sz="28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8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NVIDIA</a:t>
            </a:r>
            <a:r>
              <a:rPr lang="en-US" sz="2800" b="1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GPU</a:t>
            </a:r>
            <a:r>
              <a:rPr lang="en-US" sz="2800" b="1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has</a:t>
            </a:r>
            <a:r>
              <a:rPr lang="en-US" sz="2800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been</a:t>
            </a:r>
            <a:r>
              <a:rPr lang="en-US" sz="28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upgraded</a:t>
            </a:r>
            <a:r>
              <a:rPr lang="en-US" sz="28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8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128</a:t>
            </a:r>
            <a:r>
              <a:rPr lang="en-US" sz="2800" b="1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cores</a:t>
            </a:r>
            <a:r>
              <a:rPr lang="en-US" sz="2800" b="1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on</a:t>
            </a:r>
            <a:r>
              <a:rPr lang="en-US" sz="28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662940">
              <a:lnSpc>
                <a:spcPts val="2905"/>
              </a:lnSpc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single</a:t>
            </a:r>
            <a:r>
              <a:rPr lang="en-US" sz="2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chip.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1659890" lvl="0" indent="-342900">
              <a:lnSpc>
                <a:spcPct val="97000"/>
              </a:lnSpc>
              <a:spcBef>
                <a:spcPts val="475"/>
              </a:spcBef>
              <a:spcAft>
                <a:spcPts val="0"/>
              </a:spcAft>
              <a:buSzPts val="2000"/>
              <a:buFont typeface="Arial MT"/>
              <a:buChar char="–"/>
              <a:tabLst>
                <a:tab pos="1063625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Furthermore,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each</a:t>
            </a:r>
            <a:r>
              <a:rPr lang="en-US" sz="2400" b="1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core</a:t>
            </a:r>
            <a:r>
              <a:rPr lang="en-US" sz="2400" b="1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on</a:t>
            </a:r>
            <a:r>
              <a:rPr lang="en-US" sz="2400" b="1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b="1" spc="-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GPU</a:t>
            </a:r>
            <a:r>
              <a:rPr lang="en-US" sz="2400" b="1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can</a:t>
            </a:r>
            <a:r>
              <a:rPr lang="en-US" sz="2400" b="1" spc="-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handle</a:t>
            </a:r>
            <a:r>
              <a:rPr lang="en-US" sz="2400" b="1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eight</a:t>
            </a:r>
            <a:r>
              <a:rPr lang="en-US" sz="2400" b="1" spc="-25" dirty="0"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threads</a:t>
            </a:r>
            <a:r>
              <a:rPr lang="en-US" sz="2400" b="1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 </a:t>
            </a:r>
            <a:r>
              <a:rPr lang="en-US" sz="2400" b="1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instructions</a:t>
            </a:r>
            <a:r>
              <a:rPr lang="en-US" sz="2400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563245" lvl="0" indent="-342900">
              <a:lnSpc>
                <a:spcPct val="97000"/>
              </a:lnSpc>
              <a:spcBef>
                <a:spcPts val="495"/>
              </a:spcBef>
              <a:spcAft>
                <a:spcPts val="0"/>
              </a:spcAft>
              <a:buSzPts val="2000"/>
              <a:buFont typeface="Arial MT"/>
              <a:buChar char="–"/>
              <a:tabLst>
                <a:tab pos="1063625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This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translates</a:t>
            </a:r>
            <a:r>
              <a:rPr lang="en-US" sz="2400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having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up</a:t>
            </a:r>
            <a:r>
              <a:rPr lang="en-US" sz="2400" b="1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b="1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1,024</a:t>
            </a:r>
            <a:r>
              <a:rPr lang="en-US" sz="2400" b="1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threads</a:t>
            </a:r>
            <a:r>
              <a:rPr lang="en-US" sz="2400" b="1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executed</a:t>
            </a:r>
            <a:r>
              <a:rPr lang="en-US" sz="2400" b="1" spc="-35" dirty="0"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concurrently</a:t>
            </a:r>
            <a:r>
              <a:rPr lang="en-US" sz="2400" b="1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on</a:t>
            </a:r>
            <a:r>
              <a:rPr lang="en-US" sz="2400" b="1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 single GPU.</a:t>
            </a:r>
          </a:p>
          <a:p>
            <a:pPr marL="342900" marR="563245" lvl="0" indent="-342900">
              <a:lnSpc>
                <a:spcPct val="97000"/>
              </a:lnSpc>
              <a:spcBef>
                <a:spcPts val="495"/>
              </a:spcBef>
              <a:spcAft>
                <a:spcPts val="0"/>
              </a:spcAft>
              <a:buSzPts val="2000"/>
              <a:buFont typeface="Arial MT"/>
              <a:buChar char="–"/>
              <a:tabLst>
                <a:tab pos="1063625" algn="l"/>
              </a:tabLst>
            </a:pP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R="677545" lvl="0" algn="ctr">
              <a:spcBef>
                <a:spcPts val="570"/>
              </a:spcBef>
              <a:spcAft>
                <a:spcPts val="0"/>
              </a:spcAft>
              <a:tabLst>
                <a:tab pos="739140" algn="l"/>
              </a:tabLst>
            </a:pPr>
            <a:r>
              <a:rPr lang="en-US" sz="2800" b="1" spc="0" dirty="0">
                <a:solidFill>
                  <a:schemeClr val="accent5"/>
                </a:solidFill>
                <a:effectLst/>
                <a:latin typeface="Calibri" panose="020F0502020204030204" pitchFamily="34" charset="0"/>
                <a:ea typeface="Arial MT"/>
                <a:cs typeface="Arial MT"/>
              </a:rPr>
              <a:t>This is true massive parallelism, compared to only a few threads that can be handled by a conventional CPU.</a:t>
            </a:r>
          </a:p>
          <a:p>
            <a:pPr marR="677545" lvl="0" algn="ctr">
              <a:spcBef>
                <a:spcPts val="570"/>
              </a:spcBef>
              <a:spcAft>
                <a:spcPts val="0"/>
              </a:spcAft>
              <a:tabLst>
                <a:tab pos="739140" algn="l"/>
              </a:tabLst>
            </a:pPr>
            <a:r>
              <a:rPr lang="en-US" sz="2800" b="1" spc="0" dirty="0">
                <a:solidFill>
                  <a:schemeClr val="accent5"/>
                </a:solidFill>
                <a:effectLst/>
                <a:latin typeface="Calibri" panose="020F0502020204030204" pitchFamily="34" charset="0"/>
                <a:ea typeface="Arial MT"/>
                <a:cs typeface="Arial MT"/>
              </a:rPr>
              <a:t>The CPU is optimized for latency caches, GPU is optimized to deliver much higher throughput</a:t>
            </a:r>
          </a:p>
        </p:txBody>
      </p:sp>
    </p:spTree>
    <p:extLst>
      <p:ext uri="{BB962C8B-B14F-4D97-AF65-F5344CB8AC3E}">
        <p14:creationId xmlns:p14="http://schemas.microsoft.com/office/powerpoint/2010/main" val="2108959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AD86219-0A37-4741-ABFB-7CF94837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05D7261-BDD5-4DC2-8EB1-CA18160A547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534728AF-64DA-9F1E-7B1A-CFE31DEBDDD9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60CA616D-1F15-663B-0813-1651770B302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8E2CB879-0975-3CAF-E9D3-63D64D1B614D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E7B4DA7-2655-332B-CE17-1684B3B0B9D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20E69FC-BDEC-742A-5415-743F5039414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76AC2A67-18B5-2B07-69BB-7B258A071BA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10D51-116B-C54B-E65A-4D8F1272A77E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GPU Programming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D25612-CAA9-CCEA-3292-C133FF19129D}"/>
              </a:ext>
            </a:extLst>
          </p:cNvPr>
          <p:cNvSpPr txBox="1"/>
          <p:nvPr/>
        </p:nvSpPr>
        <p:spPr>
          <a:xfrm>
            <a:off x="2523069" y="801878"/>
            <a:ext cx="9230838" cy="286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636395" lvl="0" indent="-342900">
              <a:lnSpc>
                <a:spcPct val="150000"/>
              </a:lnSpc>
              <a:spcBef>
                <a:spcPts val="88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Figure</a:t>
            </a:r>
            <a:r>
              <a:rPr lang="en-US" sz="2400" b="1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1.7</a:t>
            </a:r>
            <a:r>
              <a:rPr lang="en-US" sz="2400" b="1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shows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interaction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between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CPU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GPU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 performing parallel execution of floating-point operations </a:t>
            </a:r>
            <a:r>
              <a:rPr lang="en-US" sz="2400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concurrently.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1340485" lvl="0" indent="-3429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b="1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CPU</a:t>
            </a:r>
            <a:r>
              <a:rPr lang="en-US" sz="2400" b="1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is</a:t>
            </a:r>
            <a:r>
              <a:rPr lang="en-US" sz="2400" b="1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b="1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conventional</a:t>
            </a:r>
            <a:r>
              <a:rPr lang="en-US" sz="2400" b="1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multicore</a:t>
            </a:r>
            <a:r>
              <a:rPr lang="en-US" sz="2400" b="1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</a:t>
            </a:r>
            <a:r>
              <a:rPr lang="en-US" sz="2400" b="1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with</a:t>
            </a:r>
            <a:r>
              <a:rPr lang="en-US" sz="2400" b="1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limited parallelism to exploit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Image 7">
            <a:extLst>
              <a:ext uri="{FF2B5EF4-FFF2-40B4-BE49-F238E27FC236}">
                <a16:creationId xmlns:a16="http://schemas.microsoft.com/office/drawing/2014/main" id="{9C949495-1177-20BE-6BAA-B15E09037B3E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74463" y="3765537"/>
            <a:ext cx="7969250" cy="299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497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684BBF9-9370-0246-171F-3F23FA02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F7B6136-C5B5-5B9D-F064-8C6B5A8CC5E8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F2329F4-38F2-4FE3-C886-01A86EC9609F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AF5593BE-8E8C-9E30-255F-759C45B7A3B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A69DC3C6-3E43-74DE-D580-4706DF721DAE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09D06AE-2E70-137A-6256-538487C6307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33A0D894-53F6-70E7-C772-C5FE3E61776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13A85E5-0CB7-CA0A-A988-167B4B9E243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5D3B34-FBBC-9441-5124-1DF8690490C3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GPU Programming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4062C-D2A6-48CE-761F-70593C84EAEA}"/>
              </a:ext>
            </a:extLst>
          </p:cNvPr>
          <p:cNvSpPr txBox="1"/>
          <p:nvPr/>
        </p:nvSpPr>
        <p:spPr>
          <a:xfrm>
            <a:off x="2523069" y="798665"/>
            <a:ext cx="8972838" cy="5716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679450" lvl="0" indent="-342900" algn="just" defTabSz="914400" rtl="0" eaLnBrk="1" fontAlgn="auto" latinLnBrk="0" hangingPunct="1">
              <a:lnSpc>
                <a:spcPct val="150000"/>
              </a:lnSpc>
              <a:spcBef>
                <a:spcPts val="510"/>
              </a:spcBef>
              <a:spcAft>
                <a:spcPts val="0"/>
              </a:spcAft>
              <a:buClr>
                <a:srgbClr val="000000"/>
              </a:buClr>
              <a:buSzTx/>
              <a:buFont typeface="Arial MT"/>
              <a:buChar char="•"/>
              <a:tabLst>
                <a:tab pos="739140" algn="l"/>
              </a:tabLst>
              <a:defRPr/>
            </a:pP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The</a:t>
            </a:r>
            <a:r>
              <a:rPr kumimoji="0" lang="en-US" sz="2400" b="1" i="0" strike="noStrike" kern="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GPU</a:t>
            </a:r>
            <a:r>
              <a:rPr kumimoji="0" lang="en-US" sz="2400" b="1" i="0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has</a:t>
            </a:r>
            <a:r>
              <a:rPr kumimoji="0" lang="en-US" sz="2400" b="1" i="0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a</a:t>
            </a:r>
            <a:r>
              <a:rPr kumimoji="0" lang="en-US" sz="2400" b="1" i="0" strike="noStrike" kern="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many-core</a:t>
            </a:r>
            <a:r>
              <a:rPr kumimoji="0" lang="en-US" sz="2400" b="1" i="0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architecture</a:t>
            </a:r>
            <a:r>
              <a:rPr kumimoji="0" lang="en-US" sz="2400" b="1" i="0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that</a:t>
            </a:r>
            <a:r>
              <a:rPr kumimoji="0" lang="en-US" sz="2400" b="1" i="0" strike="noStrike" kern="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has</a:t>
            </a:r>
            <a:r>
              <a:rPr kumimoji="0" lang="en-US" sz="2400" b="1" i="0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hundreds</a:t>
            </a:r>
            <a:r>
              <a:rPr kumimoji="0" lang="en-US" sz="2400" b="1" i="0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of</a:t>
            </a:r>
            <a:r>
              <a:rPr kumimoji="0" lang="en-US" sz="2400" b="1" i="0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simple processing cores </a:t>
            </a:r>
            <a:r>
              <a:rPr kumimoji="0" lang="en-US" sz="2400" b="1" i="0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organised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as multiprocessors. Each core can</a:t>
            </a:r>
            <a:r>
              <a:rPr kumimoji="0" lang="en-US" sz="2400" b="1" i="0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1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have one or more threads.</a:t>
            </a:r>
            <a:endParaRPr kumimoji="0" lang="en-IN" sz="1200" b="0" i="0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rial MT"/>
              <a:cs typeface="Arial MT"/>
              <a:sym typeface="Arial"/>
            </a:endParaRPr>
          </a:p>
          <a:p>
            <a:pPr marL="342900" marR="586105" lvl="0" indent="-3429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 MT"/>
              <a:buChar char="•"/>
              <a:tabLst>
                <a:tab pos="739140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Essentially,</a:t>
            </a:r>
            <a:r>
              <a:rPr kumimoji="0" lang="en-US" sz="2400" b="0" i="0" u="none" strike="noStrike" kern="0" cap="none" spc="-1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the</a:t>
            </a:r>
            <a:r>
              <a:rPr kumimoji="0" lang="en-US" sz="2400" b="0" i="0" u="none" strike="noStrike" kern="0" cap="none" spc="-1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CPU’s</a:t>
            </a:r>
            <a:r>
              <a:rPr kumimoji="0" lang="en-US" sz="24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floating-point</a:t>
            </a:r>
            <a:r>
              <a:rPr kumimoji="0" lang="en-US" sz="2400" b="0" i="0" u="none" strike="noStrike" kern="0" cap="none" spc="-1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kernel</a:t>
            </a:r>
            <a:r>
              <a:rPr kumimoji="0" lang="en-US" sz="2400" b="0" i="0" u="none" strike="noStrike" kern="0" cap="none" spc="-1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computation</a:t>
            </a:r>
            <a:r>
              <a:rPr kumimoji="0" lang="en-US" sz="2400" b="0" i="0" u="none" strike="noStrike" kern="0" cap="none" spc="-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role</a:t>
            </a:r>
            <a:r>
              <a:rPr kumimoji="0" lang="en-US" sz="2400" b="0" i="0" u="none" strike="noStrike" kern="0" cap="none" spc="-1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is</a:t>
            </a:r>
            <a:r>
              <a:rPr kumimoji="0" lang="en-US" sz="24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largely offloaded to the many-core GPU.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rial MT"/>
              <a:cs typeface="Arial MT"/>
              <a:sym typeface="Arial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Tx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The</a:t>
            </a:r>
            <a:r>
              <a:rPr kumimoji="0" lang="en-US" sz="240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CPU</a:t>
            </a:r>
            <a:r>
              <a:rPr kumimoji="0" lang="en-US" sz="240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instructs</a:t>
            </a:r>
            <a:r>
              <a:rPr kumimoji="0" lang="en-US" sz="240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the</a:t>
            </a:r>
            <a:r>
              <a:rPr kumimoji="0" lang="en-US" sz="2400" b="0" i="0" u="none" strike="noStrike" kern="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GPU</a:t>
            </a:r>
            <a:r>
              <a:rPr kumimoji="0" lang="en-US" sz="2400" b="0" i="0" u="none" strike="noStrike" kern="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to</a:t>
            </a:r>
            <a:r>
              <a:rPr kumimoji="0" lang="en-US" sz="2400" b="0" i="0" u="none" strike="noStrike" kern="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perform</a:t>
            </a:r>
            <a:r>
              <a:rPr kumimoji="0" lang="en-US" sz="2400" b="0" i="0" u="none" strike="noStrike" kern="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massive</a:t>
            </a:r>
            <a:r>
              <a:rPr kumimoji="0" lang="en-US" sz="2400" b="0" i="0" u="none" strike="noStrike" kern="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data</a:t>
            </a:r>
            <a:r>
              <a:rPr kumimoji="0" lang="en-US" sz="2400" b="0" i="0" u="none" strike="noStrike" kern="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processing.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rial MT"/>
              <a:cs typeface="Arial MT"/>
              <a:sym typeface="Arial"/>
            </a:endParaRPr>
          </a:p>
          <a:p>
            <a:pPr marL="342900" marR="1410970" lvl="0" indent="-342900" algn="just" defTabSz="914400" rtl="0" eaLnBrk="1" fontAlgn="auto" latinLnBrk="0" hangingPunct="1">
              <a:lnSpc>
                <a:spcPct val="15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Tx/>
              <a:buFont typeface="Arial MT"/>
              <a:buChar char="•"/>
              <a:tabLst>
                <a:tab pos="739140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The</a:t>
            </a:r>
            <a:r>
              <a:rPr kumimoji="0" lang="en-US" sz="2400" b="0" i="0" u="none" strike="noStrike" kern="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bandwidth</a:t>
            </a:r>
            <a:r>
              <a:rPr kumimoji="0" lang="en-US" sz="2400" b="0" i="0" u="none" strike="noStrike" kern="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must</a:t>
            </a:r>
            <a:r>
              <a:rPr kumimoji="0" lang="en-US" sz="24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be</a:t>
            </a:r>
            <a:r>
              <a:rPr kumimoji="0" lang="en-US" sz="2400" b="0" i="0" u="none" strike="noStrike" kern="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matched</a:t>
            </a:r>
            <a:r>
              <a:rPr kumimoji="0" lang="en-US" sz="2400" b="0" i="0" u="none" strike="noStrike" kern="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between</a:t>
            </a:r>
            <a:r>
              <a:rPr kumimoji="0" lang="en-US" sz="2400" b="0" i="0" u="none" strike="noStrike" kern="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the</a:t>
            </a:r>
            <a:r>
              <a:rPr kumimoji="0" lang="en-US" sz="2400" b="0" i="0" u="none" strike="noStrike" kern="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on-board</a:t>
            </a:r>
            <a:r>
              <a:rPr kumimoji="0" lang="en-US" sz="2400" b="0" i="0" u="none" strike="noStrike" kern="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main memory and the on-chip GPU memory.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rial MT"/>
              <a:cs typeface="Arial MT"/>
              <a:sym typeface="Arial"/>
            </a:endParaRPr>
          </a:p>
          <a:p>
            <a:pPr marL="742950" marR="0" lvl="1" indent="-285750" algn="just" defTabSz="914400" rtl="0" eaLnBrk="1" fontAlgn="auto" latinLnBrk="0" hangingPunct="1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Tx/>
              <a:buFont typeface="Arial MT"/>
              <a:buChar char="–"/>
              <a:tabLst>
                <a:tab pos="1139825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This</a:t>
            </a:r>
            <a:r>
              <a:rPr kumimoji="0" lang="en-US" sz="2400" b="0" i="0" u="none" strike="noStrike" kern="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process</a:t>
            </a:r>
            <a:r>
              <a:rPr kumimoji="0" lang="en-US" sz="24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is</a:t>
            </a:r>
            <a:r>
              <a:rPr kumimoji="0" lang="en-US" sz="24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carried</a:t>
            </a:r>
            <a:r>
              <a:rPr kumimoji="0" lang="en-US" sz="2400" b="0" i="0" u="none" strike="noStrike" kern="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out</a:t>
            </a:r>
            <a:r>
              <a:rPr kumimoji="0" lang="en-US" sz="2400" b="0" i="0" u="none" strike="noStrike" kern="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in</a:t>
            </a:r>
            <a:r>
              <a:rPr kumimoji="0" lang="en-US" sz="2400" b="0" i="0" u="none" strike="noStrike" kern="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NVIDIA’s</a:t>
            </a:r>
            <a:r>
              <a:rPr kumimoji="0" lang="en-US" sz="240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CUDA</a:t>
            </a:r>
            <a:r>
              <a:rPr kumimoji="0" lang="en-US" sz="2400" b="0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programming</a:t>
            </a:r>
            <a:r>
              <a:rPr kumimoji="0" lang="en-US" sz="2400" b="0" i="0" u="none" strike="noStrike" kern="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using</a:t>
            </a:r>
            <a:r>
              <a:rPr kumimoji="0" lang="en-US" sz="24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 </a:t>
            </a:r>
            <a:r>
              <a:rPr kumimoji="0" lang="en-US" sz="2400" b="0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rial MT"/>
                <a:cs typeface="Arial MT"/>
                <a:sym typeface="Arial"/>
              </a:rPr>
              <a:t>the</a:t>
            </a:r>
            <a:r>
              <a:rPr lang="en-IN" sz="1200" dirty="0"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GeForce</a:t>
            </a:r>
            <a:r>
              <a:rPr kumimoji="0" lang="en-US" sz="2400" b="0" i="0" u="none" strike="noStrike" kern="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8800</a:t>
            </a:r>
            <a:r>
              <a:rPr kumimoji="0" lang="en-US" sz="2400" b="0" i="0" u="none" strike="noStrike" kern="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or</a:t>
            </a:r>
            <a:r>
              <a:rPr kumimoji="0" lang="en-US" sz="2400" b="0" i="0" u="none" strike="noStrike" kern="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Tesla</a:t>
            </a:r>
            <a:r>
              <a:rPr kumimoji="0" lang="en-US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and</a:t>
            </a:r>
            <a:r>
              <a:rPr kumimoji="0" lang="en-US" sz="2400" b="0" i="0" u="none" strike="noStrike" kern="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Fermi</a:t>
            </a:r>
            <a:r>
              <a:rPr kumimoji="0" lang="en-US" sz="2400" b="0" i="0" u="none" strike="noStrike" kern="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GPUs.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99942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DA087B3-DB6C-A0BA-D6B2-26D6BC2D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6C11FED-C2AD-3423-08A3-356570BC850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9D6E53C-9110-B81F-A2FB-A2DA5653865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BCE048B3-2D0F-21AC-DB71-85B52912EE8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A3F4E41-7F9C-BEB2-CD89-DEFDAD8577B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085CCD2-712A-C165-138D-4FDA93237D30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C5264E21-3C14-0A7A-DE1E-AF4F4DEFE9E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08DD6C6E-A492-4681-E942-457EBA9C990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C2187B-CD46-570A-A849-70F37EBCB132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System-Area Interconnects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A9EC9-10F9-A322-73BC-66D782E93FE9}"/>
              </a:ext>
            </a:extLst>
          </p:cNvPr>
          <p:cNvSpPr txBox="1"/>
          <p:nvPr/>
        </p:nvSpPr>
        <p:spPr>
          <a:xfrm>
            <a:off x="2523069" y="798665"/>
            <a:ext cx="9230838" cy="432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403985" lvl="0" indent="-34290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975995" lvl="0" indent="-342900">
              <a:lnSpc>
                <a:spcPct val="150000"/>
              </a:lnSpc>
              <a:spcBef>
                <a:spcPts val="575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All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three</a:t>
            </a:r>
            <a:r>
              <a:rPr lang="en-US" sz="28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types</a:t>
            </a:r>
            <a:r>
              <a:rPr lang="en-US" sz="28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networks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often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appear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8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large</a:t>
            </a:r>
            <a:r>
              <a:rPr lang="en-US" sz="2800" b="1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cluster built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with commercial network components.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602615" lvl="0" indent="-342900" algn="just">
              <a:lnSpc>
                <a:spcPct val="150000"/>
              </a:lnSpc>
              <a:spcBef>
                <a:spcPts val="585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If</a:t>
            </a:r>
            <a:r>
              <a:rPr lang="en-US" sz="28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no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large</a:t>
            </a:r>
            <a:r>
              <a:rPr lang="en-US" sz="28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distributed</a:t>
            </a:r>
            <a:r>
              <a:rPr lang="en-US" sz="28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storage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is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shared,</a:t>
            </a:r>
            <a:r>
              <a:rPr lang="en-US" sz="28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small</a:t>
            </a:r>
            <a:r>
              <a:rPr lang="en-US" sz="28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cluster</a:t>
            </a:r>
            <a:r>
              <a:rPr lang="en-US" sz="28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could be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built</a:t>
            </a:r>
            <a:r>
              <a:rPr lang="en-US" sz="28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with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8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multiport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Gigabit</a:t>
            </a:r>
            <a:r>
              <a:rPr lang="en-US" sz="28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Ethernet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switch</a:t>
            </a:r>
            <a:r>
              <a:rPr lang="en-US" sz="28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plus</a:t>
            </a:r>
            <a:r>
              <a:rPr lang="en-US" sz="2800" spc="-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copper cables to link the end machines.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 MT"/>
              <a:buChar char="–"/>
              <a:tabLst>
                <a:tab pos="113919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All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three</a:t>
            </a:r>
            <a:r>
              <a:rPr lang="en-US" sz="2400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types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networks</a:t>
            </a:r>
            <a:r>
              <a:rPr lang="en-US" sz="2400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are</a:t>
            </a:r>
            <a:r>
              <a:rPr lang="en-US" sz="2400" spc="-9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commercially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available.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6903826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E681D83-0A25-81C1-1062-A38802E3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71413AF-0248-5F06-0450-85E348BA5D59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29CA902-85F1-467E-8065-9785E440C022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7B2ABD01-D543-40AB-B538-A2EFBFC7E01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98F2246-452A-D3CA-DEF9-38F201B45506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9A11B8B-960E-A815-7798-9E734241A7B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F6F3EBC6-DF08-1F70-C26D-6A87DE0C241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C4F6676-4E82-E6B7-7DFE-34D9A7DED2E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7F99FE-D1D8-D7A2-FDB8-A42A4110DD50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System-Area Interconnects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526D4-F20B-7219-4A3D-FAF15FC79CB4}"/>
              </a:ext>
            </a:extLst>
          </p:cNvPr>
          <p:cNvSpPr txBox="1"/>
          <p:nvPr/>
        </p:nvSpPr>
        <p:spPr>
          <a:xfrm>
            <a:off x="2523069" y="798665"/>
            <a:ext cx="9230838" cy="5414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Arial MT"/>
              <a:buChar char="•"/>
              <a:tabLst>
                <a:tab pos="738505" algn="l"/>
              </a:tabLst>
            </a:pP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800" spc="-1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nodes</a:t>
            </a:r>
            <a:r>
              <a:rPr lang="en-US" sz="28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</a:t>
            </a:r>
            <a:r>
              <a:rPr lang="en-US" sz="2800" spc="-10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small</a:t>
            </a:r>
            <a:r>
              <a:rPr lang="en-US" sz="28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clusters</a:t>
            </a:r>
            <a:r>
              <a:rPr lang="en-US" sz="28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are</a:t>
            </a:r>
            <a:r>
              <a:rPr lang="en-US" sz="28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mostly</a:t>
            </a:r>
            <a:r>
              <a:rPr lang="en-US" sz="28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interconnected</a:t>
            </a:r>
            <a:r>
              <a:rPr lang="en-US" sz="28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by</a:t>
            </a:r>
            <a:r>
              <a:rPr lang="en-US" sz="28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739140">
              <a:lnSpc>
                <a:spcPct val="150000"/>
              </a:lnSpc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Ethernet</a:t>
            </a:r>
            <a:r>
              <a:rPr lang="en-US" sz="2800" b="1" spc="-10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switch</a:t>
            </a:r>
            <a:r>
              <a:rPr lang="en-US" sz="2800" b="1" spc="-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or</a:t>
            </a:r>
            <a:r>
              <a:rPr lang="en-US" sz="2800" spc="-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2800" b="1" spc="-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local</a:t>
            </a:r>
            <a:r>
              <a:rPr lang="en-US" sz="2800" b="1" spc="-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area</a:t>
            </a:r>
            <a:r>
              <a:rPr lang="en-US" sz="2800" b="1" spc="-7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network</a:t>
            </a:r>
            <a:r>
              <a:rPr lang="en-US" sz="2800" b="1" spc="-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(LAN).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486410" lvl="0" indent="-342900">
              <a:lnSpc>
                <a:spcPct val="150000"/>
              </a:lnSpc>
              <a:spcBef>
                <a:spcPts val="475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As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Figure</a:t>
            </a:r>
            <a:r>
              <a:rPr lang="en-US" sz="2800" b="1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1.11</a:t>
            </a:r>
            <a:r>
              <a:rPr lang="en-US" sz="2800" b="1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shows,</a:t>
            </a:r>
            <a:r>
              <a:rPr lang="en-US" sz="28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LAN</a:t>
            </a:r>
            <a:r>
              <a:rPr lang="en-US" sz="28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typically</a:t>
            </a:r>
            <a:r>
              <a:rPr lang="en-US" sz="28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is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used</a:t>
            </a:r>
            <a:r>
              <a:rPr lang="en-US" sz="28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8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connect</a:t>
            </a:r>
            <a:r>
              <a:rPr lang="en-US" sz="28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client hosts to big servers.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816610" lvl="0" indent="-34290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8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storage</a:t>
            </a:r>
            <a:r>
              <a:rPr lang="en-US" sz="2800" b="1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area</a:t>
            </a:r>
            <a:r>
              <a:rPr lang="en-US" sz="2800" b="1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network</a:t>
            </a:r>
            <a:r>
              <a:rPr lang="en-US" sz="2800" b="1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(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SAN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)</a:t>
            </a:r>
            <a:r>
              <a:rPr lang="en-US" sz="28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connects</a:t>
            </a:r>
            <a:r>
              <a:rPr lang="en-US" sz="28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servers</a:t>
            </a:r>
            <a:r>
              <a:rPr lang="en-US" sz="28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8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network storage such as disk arrays.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1403985" lvl="0" indent="-34290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 MT"/>
              <a:buChar char="•"/>
              <a:tabLst>
                <a:tab pos="739140" algn="l"/>
              </a:tabLst>
            </a:pP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Network</a:t>
            </a:r>
            <a:r>
              <a:rPr lang="en-US" sz="2800" b="1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attached</a:t>
            </a:r>
            <a:r>
              <a:rPr lang="en-US" sz="2800" b="1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storage</a:t>
            </a:r>
            <a:r>
              <a:rPr lang="en-US" sz="2800" b="1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(</a:t>
            </a:r>
            <a:r>
              <a:rPr lang="en-US" sz="28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NAS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)</a:t>
            </a:r>
            <a:r>
              <a:rPr lang="en-US" sz="28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connects</a:t>
            </a:r>
            <a:r>
              <a:rPr lang="en-US" sz="28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client</a:t>
            </a:r>
            <a:r>
              <a:rPr lang="en-US" sz="28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8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hosts directly to the disk arrays.</a:t>
            </a:r>
            <a:endParaRPr lang="en-IN" sz="12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4188948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EFC4C70-8817-5A10-398B-F7873242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FA594E99-3E4F-7491-0F1D-6AC48BB86A57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654B024-07F5-E1FB-76E2-B4333482F17E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6C3FD358-B45E-E871-EA6B-58F0C4CE5F8D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49FA0A4-D111-B775-8317-A71B88BB2ED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F91231C-D0A7-447D-65FA-21336D6BD31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B3070F8-50B0-B5F5-35E0-D4E2B662850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D27CD63-40E8-454A-6FA4-B7AEC905B4D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513A86-AACA-5E85-816D-40198769158D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System-Area Interconnects</a:t>
            </a:r>
          </a:p>
        </p:txBody>
      </p:sp>
      <p:pic>
        <p:nvPicPr>
          <p:cNvPr id="3" name="Image 8">
            <a:extLst>
              <a:ext uri="{FF2B5EF4-FFF2-40B4-BE49-F238E27FC236}">
                <a16:creationId xmlns:a16="http://schemas.microsoft.com/office/drawing/2014/main" id="{D9FF2541-A12B-BB61-87A7-70EBB27E5CA7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12849" y="1666240"/>
            <a:ext cx="8783057" cy="479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058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5E397E2-CD98-F908-367D-A823EDED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811F453B-A583-87A9-1749-25E17EC72C41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310D8DCF-9D23-4A4C-E15B-983BE623950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D432794-8A02-A27C-6894-008C6D1D58A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EF9BDE3A-5948-6F34-F98C-B9013ABF0626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859953BB-448F-FD50-3F78-C6A929BAEB17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4D0B163-B09F-BBB6-4F79-6E86BEFC760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8D4354D-A1CD-9CC3-E616-91D4AD483767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F6A828-AB3C-193D-E857-95E3ED9775D7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Virtual Machines and Virtualization Middleware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6D5D8-0C64-14BE-16F4-F9A36436B736}"/>
              </a:ext>
            </a:extLst>
          </p:cNvPr>
          <p:cNvSpPr txBox="1"/>
          <p:nvPr/>
        </p:nvSpPr>
        <p:spPr>
          <a:xfrm>
            <a:off x="2625761" y="931076"/>
            <a:ext cx="9055662" cy="576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636270" lvl="0" indent="-342900" algn="just">
              <a:lnSpc>
                <a:spcPct val="150000"/>
              </a:lnSpc>
              <a:spcBef>
                <a:spcPts val="1770"/>
              </a:spcBef>
              <a:spcAft>
                <a:spcPts val="0"/>
              </a:spcAft>
              <a:buSzPts val="2800"/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spc="-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conventional computer has</a:t>
            </a:r>
            <a:r>
              <a:rPr lang="en-US" sz="2400" spc="-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spc="-1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single OS</a:t>
            </a:r>
            <a:r>
              <a:rPr lang="en-US" sz="2400" spc="-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image.</a:t>
            </a:r>
            <a:r>
              <a:rPr lang="en-US" sz="2400" spc="-1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This offers a rigid architecture that tightly couples application</a:t>
            </a:r>
            <a:r>
              <a:rPr lang="en-US" sz="24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software</a:t>
            </a:r>
            <a:r>
              <a:rPr lang="en-US" sz="2400" spc="-10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</a:t>
            </a:r>
            <a:r>
              <a:rPr lang="en-US" sz="24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specific</a:t>
            </a:r>
            <a:r>
              <a:rPr lang="en-US" sz="2400" spc="-9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hardware</a:t>
            </a:r>
            <a:r>
              <a:rPr lang="en-US" sz="2400" spc="-9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platform.</a:t>
            </a:r>
            <a:endParaRPr lang="en-IN" sz="11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549275" lvl="0" indent="-342900" algn="just">
              <a:lnSpc>
                <a:spcPct val="15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Some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software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running</a:t>
            </a:r>
            <a:r>
              <a:rPr lang="en-US" sz="2400" spc="-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well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on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one</a:t>
            </a:r>
            <a:r>
              <a:rPr lang="en-US" sz="2400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machine</a:t>
            </a:r>
            <a:r>
              <a:rPr lang="en-US" sz="2400" spc="-3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may</a:t>
            </a:r>
            <a:r>
              <a:rPr lang="en-US" sz="2400" spc="-5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not be executable on another platform with a different instruction set under a fixed OS.</a:t>
            </a:r>
            <a:endParaRPr lang="en-IN" sz="11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1234440" lvl="0" indent="-342900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  <a:buSzPts val="2800"/>
              <a:buFont typeface="Arial MT"/>
              <a:buChar char="•"/>
              <a:tabLst>
                <a:tab pos="891540" algn="l"/>
              </a:tabLst>
            </a:pP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Virtual machines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(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VM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s) offer novel solutions to underutilized resources, application inflexibility, software</a:t>
            </a:r>
            <a:r>
              <a:rPr lang="en-US" sz="2400" spc="-1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manageability,</a:t>
            </a:r>
            <a:r>
              <a:rPr lang="en-US" sz="2400" spc="-11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security</a:t>
            </a:r>
            <a:r>
              <a:rPr lang="en-US" sz="2400" spc="-10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concerns</a:t>
            </a:r>
            <a:r>
              <a:rPr lang="en-US" sz="2400" spc="-10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 existing physical machines.</a:t>
            </a:r>
            <a:endParaRPr lang="en-IN" sz="11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1298150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853D1AC-63E0-D433-B8AF-823F8E1C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CA5F6A5-42C5-164E-C79F-70A080C3870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BFB9D91-73A7-2830-17B3-41E12DD3CE6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F896F26-C830-0249-B1B5-DA252917C65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BF97EF19-ADC2-4BB6-C091-65C079388774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1DCFC44-79E1-7F07-0249-648C3C24E7F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883F3E70-68BF-2769-8A0E-5D8C4455844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CE6AA96-23D9-29EC-281F-E3E737EEDA7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E3CC5E-1182-5CAA-DFE1-8970FB1DFF15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Virtual Machines and Virtualization Middleware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9BFA1-1F04-9CAF-A366-FC5EFAA598F5}"/>
              </a:ext>
            </a:extLst>
          </p:cNvPr>
          <p:cNvSpPr txBox="1"/>
          <p:nvPr/>
        </p:nvSpPr>
        <p:spPr>
          <a:xfrm>
            <a:off x="2625761" y="931076"/>
            <a:ext cx="9423564" cy="529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655320" lvl="0" indent="-342900" algn="just">
              <a:lnSpc>
                <a:spcPct val="150000"/>
              </a:lnSpc>
              <a:spcBef>
                <a:spcPts val="1770"/>
              </a:spcBef>
              <a:spcAft>
                <a:spcPts val="0"/>
              </a:spcAft>
              <a:buSzPts val="2800"/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Today,</a:t>
            </a:r>
            <a:r>
              <a:rPr lang="en-US" sz="2400" spc="-1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spc="-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build large</a:t>
            </a:r>
            <a:r>
              <a:rPr lang="en-US" sz="2400" spc="-3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clusters, grids,</a:t>
            </a:r>
            <a:r>
              <a:rPr lang="en-US" sz="2400" spc="-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 clouds, we need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spc="-7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access</a:t>
            </a:r>
            <a:r>
              <a:rPr lang="en-US" sz="2400" spc="-6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large</a:t>
            </a:r>
            <a:r>
              <a:rPr lang="en-US" sz="2400" spc="-8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amounts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computing,</a:t>
            </a:r>
            <a:r>
              <a:rPr lang="en-US" sz="2400" spc="-4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storage, and networking resources in a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virtualized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manner.</a:t>
            </a:r>
            <a:endParaRPr lang="en-IN" sz="24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1918970" lvl="0" indent="-342900" algn="just">
              <a:lnSpc>
                <a:spcPct val="15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 MT"/>
              <a:buChar char="•"/>
              <a:tabLst>
                <a:tab pos="891540" algn="l"/>
                <a:tab pos="970915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We</a:t>
            </a:r>
            <a:r>
              <a:rPr lang="en-US" sz="2400" spc="-8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need</a:t>
            </a:r>
            <a:r>
              <a:rPr lang="en-US" sz="24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to</a:t>
            </a:r>
            <a:r>
              <a:rPr lang="en-US" sz="2400" spc="-9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aggregate</a:t>
            </a:r>
            <a:r>
              <a:rPr lang="en-US" sz="2400" spc="-10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those</a:t>
            </a:r>
            <a:r>
              <a:rPr lang="en-US" sz="2400" spc="-11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resources,</a:t>
            </a:r>
            <a:r>
              <a:rPr lang="en-US" sz="2400" spc="-7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 hopefully, offer a single system image.</a:t>
            </a:r>
            <a:endParaRPr lang="en-IN" sz="24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marR="691515" lvl="0" indent="-342900" algn="just">
              <a:lnSpc>
                <a:spcPct val="150000"/>
              </a:lnSpc>
              <a:spcBef>
                <a:spcPts val="695"/>
              </a:spcBef>
              <a:spcAft>
                <a:spcPts val="0"/>
              </a:spcAft>
              <a:buSzPts val="2800"/>
              <a:buFont typeface="Arial MT"/>
              <a:buChar char="•"/>
              <a:tabLst>
                <a:tab pos="891540" algn="l"/>
              </a:tabLst>
            </a:pP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In particular, a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cloud of provisioned resources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must rely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on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virtualization</a:t>
            </a:r>
            <a:r>
              <a:rPr lang="en-US" sz="2400" i="1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</a:t>
            </a:r>
            <a:r>
              <a:rPr lang="en-US" sz="2400" i="1" spc="-5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processors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,</a:t>
            </a:r>
            <a:r>
              <a:rPr lang="en-US" sz="2400" spc="-6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i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memory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,</a:t>
            </a:r>
            <a:r>
              <a:rPr lang="en-US" sz="2400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and</a:t>
            </a:r>
            <a:r>
              <a:rPr lang="en-US" sz="2400" spc="-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I/O facilities dynamically.</a:t>
            </a:r>
            <a:endParaRPr lang="en-IN" sz="2400" spc="0" dirty="0">
              <a:effectLst/>
              <a:latin typeface="Calibri" panose="020F0502020204030204" pitchFamily="34" charset="0"/>
              <a:ea typeface="Arial MT"/>
              <a:cs typeface="Arial MT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55"/>
              </a:spcBef>
              <a:spcAft>
                <a:spcPts val="0"/>
              </a:spcAft>
              <a:buSzPts val="2800"/>
              <a:buFont typeface="Arial MT"/>
              <a:buChar char="•"/>
              <a:tabLst>
                <a:tab pos="890905" algn="l"/>
              </a:tabLst>
            </a:pP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Figure</a:t>
            </a:r>
            <a:r>
              <a:rPr lang="en-US" sz="2400" b="1" spc="-1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1.12</a:t>
            </a:r>
            <a:r>
              <a:rPr lang="en-US" sz="2400" b="1" spc="-1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illustrates</a:t>
            </a:r>
            <a:r>
              <a:rPr lang="en-US" sz="2400" spc="-11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the</a:t>
            </a:r>
            <a:r>
              <a:rPr lang="en-US" sz="2400" spc="-1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architectures</a:t>
            </a:r>
            <a:r>
              <a:rPr lang="en-US" sz="2400" spc="-1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of</a:t>
            </a:r>
            <a:r>
              <a:rPr lang="en-US" sz="2400" spc="-14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three</a:t>
            </a:r>
            <a:r>
              <a:rPr lang="en-US" sz="2400" b="1" spc="-120" dirty="0">
                <a:effectLst/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b="1" spc="-25" dirty="0">
                <a:effectLst/>
                <a:latin typeface="Calibri" panose="020F0502020204030204" pitchFamily="34" charset="0"/>
                <a:ea typeface="Arial MT"/>
                <a:cs typeface="Arial MT"/>
              </a:rPr>
              <a:t>VM</a:t>
            </a:r>
            <a:r>
              <a:rPr lang="en-IN" sz="2400" b="1" dirty="0">
                <a:latin typeface="Calibri" panose="020F0502020204030204" pitchFamily="34" charset="0"/>
                <a:ea typeface="Arial MT"/>
                <a:cs typeface="Arial MT"/>
              </a:rPr>
              <a:t> </a:t>
            </a:r>
            <a:r>
              <a:rPr lang="en-US" sz="24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configurations.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5317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3FC694B-620C-A123-869A-9805FBFD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55B9F958-01F4-10FA-8DEC-6ED11B1044E2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AB70116E-A5E9-1437-E683-761A83B4F0F9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159D3B7C-7CAD-F400-6A9B-B928CFE6C5B1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55BF280-5303-A021-88F1-ED060633E09C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1BD704C3-CE47-07E0-E2D4-B5CBC464408F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9B38C0E0-6B6E-E5BD-3F08-2011F85F67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E1802AE3-CD49-3ACA-FF58-C0CFD1B06EB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FEE692-75AF-0C64-AD65-65F9B0F393DB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Virtual Machines and Virtualization Middleware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650178-392A-E1AC-0F2E-B05B53D5E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098" y="1369293"/>
            <a:ext cx="8936564" cy="426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678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0B2BE03-F7EB-C514-5F0C-6C273B88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E27B0DAC-D187-0FEE-2ED2-D5DBA774314B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CFF1DFAA-0D1F-0325-34B3-50617F93670F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E4EEA58-BC66-BB66-0BE6-7BA74B7D906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2771AD7-9AF7-E75A-5103-6C5C1A95412F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06ABB480-2FCE-D6C6-840B-1002ED66C6C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3062328-D6E6-4326-3848-48C07ED706D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3730D6E2-BE5E-1CC1-C461-7A580CF2630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F70B50-0FD1-42F4-0F31-3795E1EF6491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VM Primitive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C9FDF-4ECE-5B05-E9AE-52D2140FB07D}"/>
              </a:ext>
            </a:extLst>
          </p:cNvPr>
          <p:cNvSpPr txBox="1"/>
          <p:nvPr/>
        </p:nvSpPr>
        <p:spPr>
          <a:xfrm>
            <a:off x="2712850" y="908901"/>
            <a:ext cx="8669853" cy="585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VMM provides the VM abstraction to the guest OS. With full virtualization, the VMM exports a VM abstraction identical to the physical machine so that a standard OS such as Windows 2000 or Linux can run just as it would on the physical hardware.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Low-level VMM operations are indicated by Mendel Rosenblum [41] and illustrated in Figure 1.13.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First, the VMs can be multiplexed between hardware machines, as shown in Figure 1.13(a).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Second, a VM can be suspended and stored in stable storage, as shown in Figure 1.13(b).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Third, a suspended VM can be resumed or provisioned to a new hardware platform, as shown in Figure 1.13(c).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Finally, a VM can be migrated from one hardware platform to another, as shown in Figure 1.13(d).</a:t>
            </a:r>
          </a:p>
        </p:txBody>
      </p:sp>
    </p:spTree>
    <p:extLst>
      <p:ext uri="{BB962C8B-B14F-4D97-AF65-F5344CB8AC3E}">
        <p14:creationId xmlns:p14="http://schemas.microsoft.com/office/powerpoint/2010/main" val="16581236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618C13F-8DE8-0E3A-D1AD-2819A321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2A7ECAD-9798-36C5-CB80-37EFEB49D561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573FC10-0BB2-5DD7-6FD0-580F999ED47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6654D51-A1ED-9F67-96F2-DB84C87AC89D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733ED99A-9D0B-19D0-BA7E-581F3FE802EC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599A8F2-0F3E-D397-7F6F-6F7714F252D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8FA61515-DB46-3AF6-D5CA-A3BAEF009BF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9596E7ED-D478-9785-6EC8-B722E8F3FCD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7CE97D-E064-1E66-1746-35C359DAC401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VM Primitive Operations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79F0E4-CB4B-54DB-2C67-4B6E366BE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162" y="1474470"/>
            <a:ext cx="8462132" cy="473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620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0EF3C2C-B3FD-761E-366B-E137D1BE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3A16E5E-0EF7-9200-86EB-AA997E36EF2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F2CFD15-A3FA-CF4E-CC0B-4C547B840516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80FD097-93FB-E154-76E3-1C692590DCB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B5F8BB7-2811-6245-54B2-7E7A34FD1BA3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71A75AD-331B-58A4-A092-D496ADA43E36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CA1A9F89-D358-37EB-C3DC-6F832D51C2B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B86FB82-184A-4997-DAFB-38CD392B896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A6DCE-D2BF-63C8-4E09-93D8182F6BD0}"/>
              </a:ext>
            </a:extLst>
          </p:cNvPr>
          <p:cNvSpPr txBox="1"/>
          <p:nvPr/>
        </p:nvSpPr>
        <p:spPr>
          <a:xfrm>
            <a:off x="2574463" y="173151"/>
            <a:ext cx="89214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SYSTEM MODELS FOR DISTRIBUTED AND CLOUD COMPUTING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A4A25-6432-0E4B-8E72-957315D0E465}"/>
              </a:ext>
            </a:extLst>
          </p:cNvPr>
          <p:cNvSpPr txBox="1"/>
          <p:nvPr/>
        </p:nvSpPr>
        <p:spPr>
          <a:xfrm>
            <a:off x="2773958" y="1250369"/>
            <a:ext cx="8721949" cy="5996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 </a:t>
            </a:r>
            <a:r>
              <a:rPr lang="en-US" sz="2400" b="1" dirty="0"/>
              <a:t>distributed system </a:t>
            </a:r>
            <a:r>
              <a:rPr lang="en-US" sz="2400" dirty="0"/>
              <a:t>is a collection of independent computers that appear to users as a single coherent system or Single-System Image concept.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Key Characteristics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Resource sharing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Concurrency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Scalability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Fault tolerance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Transparency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17443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DEA5345-DD9E-A256-4AEE-58C27428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B1A80761-A9B3-8050-B9C2-06BDFC562A5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696779F-9ED9-F78A-2D77-B754050A031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64C0154F-094A-24B9-831D-BB8808CFF650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3894BA7D-DFD3-E9AA-7981-ABBCF517E5C3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B866FE9-4AA6-5035-DD2F-0837760FA2A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7555B705-83EB-E185-666B-A9F797D1F45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17C095E2-3A81-4CC7-3E36-6AEC04195A9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64DB6-66F3-1270-EDA6-BAC608886E37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Cluster Computing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65254E-BE03-0AD4-EB06-D073ED4B1BA5}"/>
              </a:ext>
            </a:extLst>
          </p:cNvPr>
          <p:cNvSpPr txBox="1"/>
          <p:nvPr/>
        </p:nvSpPr>
        <p:spPr>
          <a:xfrm>
            <a:off x="2644958" y="1039286"/>
            <a:ext cx="8721949" cy="557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cluster is a collection of interconnected homogeneous machines working as a single system.</a:t>
            </a:r>
          </a:p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Characteristics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High-speed LAN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Centralized scheduling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Single system image (SSI)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Used in HPC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Applications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Scientific simulations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Weather forecasting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Bioinformatics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DE6F1-7889-2724-0AF8-7C178A073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341" y="3744578"/>
            <a:ext cx="5712778" cy="294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238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522BFAB-7ADC-854E-C23A-D8F83DA34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DF615A1-324E-5D64-CD36-82E5C543F0C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9AF40606-AE73-5F72-971F-FD1160AD0BF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D964CB34-6C01-F0DB-E62D-5657833CDE00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77C64690-7D35-7DC2-80C4-D2ECF13F678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85A75E1-920D-6940-67E8-48498D24938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6C3739E-1C38-2A6F-D4CA-29B384A380B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0088ED58-219E-8450-AA5B-F4282529FBCE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CDA6F-338E-F538-2D8B-E2A215943B72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Grid Computing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04CB0-5C2A-6331-C6D0-969A398D155E}"/>
              </a:ext>
            </a:extLst>
          </p:cNvPr>
          <p:cNvSpPr txBox="1"/>
          <p:nvPr/>
        </p:nvSpPr>
        <p:spPr>
          <a:xfrm>
            <a:off x="2644958" y="1039286"/>
            <a:ext cx="8721949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 geographically distributed collection of heterogeneous resources across multiple organizations.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Characteristics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Virtual Organizations (VO)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Middleware coordination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Decentralised</a:t>
            </a:r>
            <a:r>
              <a:rPr lang="en-US" sz="2400" dirty="0"/>
              <a:t> control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Resource federation</a:t>
            </a:r>
          </a:p>
        </p:txBody>
      </p:sp>
    </p:spTree>
    <p:extLst>
      <p:ext uri="{BB962C8B-B14F-4D97-AF65-F5344CB8AC3E}">
        <p14:creationId xmlns:p14="http://schemas.microsoft.com/office/powerpoint/2010/main" val="15826243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FBCCAE5-4E53-DE02-47E4-E65950856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F5ED994D-AE0F-83A3-D0BF-0788B3ABFF7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596AE958-B432-DC38-F767-6618DC281E07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D6200DCD-4351-B1F8-E137-82FA32E7A1EB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2B178DD5-0604-9C96-1DD1-48FD63124C5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EC9A203-DCA6-F43E-14CF-F9D0194E118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C5AC2F0-FCAD-6A84-E670-6C8643ADEC8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15AE8759-7919-1D7D-F629-127E066C4F3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60214-2B0E-7A94-F077-39E205AC6DC7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Grid Computing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01631-A83B-E675-73E4-95D1AE3B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096" y="1088767"/>
            <a:ext cx="8633233" cy="422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649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085FA65-315A-6873-E3C0-0989E483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EDF7A509-6E19-C852-5ED3-3726EA6149F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9F2856F-2D38-B9BB-9E60-DE4A6894AB70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E08D9ECB-6C02-379F-45AF-CD36321AED9E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B224A83-92D5-2DE9-1093-0A3C4542EA03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3625DDA-1F6D-7904-EDAB-85AF95FDE1B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38291B99-8C60-0171-C1B6-2858A52FE08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849E9CE-7D89-1025-84DF-CB8FE073F0C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40E929-72C7-1BE6-A8E0-69C20D808AD3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Key Difference from Cluster with Grid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E9458C-CA61-2AA7-7D6A-204C1D7DA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62136"/>
              </p:ext>
            </p:extLst>
          </p:nvPr>
        </p:nvGraphicFramePr>
        <p:xfrm>
          <a:off x="2609430" y="931076"/>
          <a:ext cx="7983464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91732">
                  <a:extLst>
                    <a:ext uri="{9D8B030D-6E8A-4147-A177-3AD203B41FA5}">
                      <a16:colId xmlns:a16="http://schemas.microsoft.com/office/drawing/2014/main" val="3404103334"/>
                    </a:ext>
                  </a:extLst>
                </a:gridCol>
                <a:gridCol w="3991732">
                  <a:extLst>
                    <a:ext uri="{9D8B030D-6E8A-4147-A177-3AD203B41FA5}">
                      <a16:colId xmlns:a16="http://schemas.microsoft.com/office/drawing/2014/main" val="3478857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b="1"/>
                        <a:t>Cluster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Grid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086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Same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Distributed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234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Homogeneous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Heterogeneous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06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Central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Multi-admin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397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9673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F162750-4870-CD8D-0C05-C424621B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89D08E7-3601-5D7F-5A53-5CC955129F47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7D45DCA3-C630-974F-C981-BAB22D9D5182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56A7CD1-B109-2409-7B11-AD72F5EDB53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5BBD8F98-DC99-CDD1-ADEA-FD2750E1D013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0CF1C140-F5DA-2724-AB7A-4D45ED90819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39BA3BD-D5C4-F4BB-9470-42BEB7BAB18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7FE6802-E780-8AA5-D660-007337E9871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FF5DD2-BC93-E922-31DB-F52EA33B3E8E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Peer-to-Peer (P2P)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EE9B5-7851-294E-BD87-95DC0AD79FF0}"/>
              </a:ext>
            </a:extLst>
          </p:cNvPr>
          <p:cNvSpPr txBox="1"/>
          <p:nvPr/>
        </p:nvSpPr>
        <p:spPr>
          <a:xfrm>
            <a:off x="2644958" y="1039286"/>
            <a:ext cx="8721949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central controller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Each node = client + server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Dynamic joining/leaving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Applications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File sharing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Blockchain</a:t>
            </a:r>
          </a:p>
        </p:txBody>
      </p:sp>
    </p:spTree>
    <p:extLst>
      <p:ext uri="{BB962C8B-B14F-4D97-AF65-F5344CB8AC3E}">
        <p14:creationId xmlns:p14="http://schemas.microsoft.com/office/powerpoint/2010/main" val="2873150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2E45D2D-ABAB-6C3E-5634-D37AD282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A1E208A-D179-9B2F-1F68-0428E331BA1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94E7AF2-2BC3-1391-84CF-E1EF37820EAF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E4373B3F-B7EC-0345-AF35-4008CE4C4C32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5C956AF-AD85-08FB-823D-A5664AF807B3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6C4AD864-5700-0F64-E06F-ED100249DACD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AF696367-4C16-0997-DC22-DD0A4A86B20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33694249-2C0C-186D-C9F5-E98FB235669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8C4343-F55F-C018-0C77-26D4E7BC8709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Cloud Computing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AD588-30AB-B8DF-DBAF-71BBECBA0FB9}"/>
              </a:ext>
            </a:extLst>
          </p:cNvPr>
          <p:cNvSpPr txBox="1"/>
          <p:nvPr/>
        </p:nvSpPr>
        <p:spPr>
          <a:xfrm>
            <a:off x="2644958" y="1039286"/>
            <a:ext cx="8721949" cy="649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Cloud Computing over the Internet: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A cloud is a pool of </a:t>
            </a:r>
            <a:r>
              <a:rPr lang="en-US" sz="2400" dirty="0" err="1"/>
              <a:t>virtualised</a:t>
            </a:r>
            <a:r>
              <a:rPr lang="en-US" sz="2400" dirty="0"/>
              <a:t> computer resources. A cloud can host a variety of different workloads, including batch-style backend jobs and interactive and user-facing applications.</a:t>
            </a:r>
          </a:p>
          <a:p>
            <a:pPr>
              <a:lnSpc>
                <a:spcPct val="150000"/>
              </a:lnSpc>
            </a:pP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Essential Characteristics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On-demand self-service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Resource pooling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Rapid elasticity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Measured service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Broad network access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31861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836569B-026D-C519-7222-EA88AAA7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95B05ABA-28BD-7631-5CE9-53C9738F1F4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066ED6D5-1EED-7F84-BC97-B7865A0F58D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1F113500-69FE-B7BE-DBAF-CDDA23C41DC0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36BF3F74-D927-F89E-CD87-6DF3D360D3BD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08F7366-AF3A-E612-55D8-374D2C69DEA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5F9A452-6187-57BE-304D-E09866938CA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21CE89D-A899-F9C7-BE08-EA03FB72242D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43C4F1-C653-F5A5-8580-49F8C04A6D5E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Cloud Computing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4B05F-74DD-EE62-DC0A-F8ED6F70A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463" y="2211173"/>
            <a:ext cx="8899449" cy="464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256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29FD419-E6F0-D685-B015-F42D21701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997D458-8761-4C32-0E69-533898AFDF8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1DE2D69-5BEB-AA18-DCA0-4A5D0CAC1EB5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F9EC357-ACEA-CA5F-2B71-19292113DC00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06976145-0318-C959-AB36-22D7F7BF1886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CD3C0DF-A31D-AF23-0ACA-FCA95B0E081D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52610E7-23FF-2BE7-E93A-2AEC84186F6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69C8E507-6B32-B397-E20C-41D9E4DE2A6C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7674F9-F2AE-992B-6750-E4697BDF11B9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Cloud Computing Model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0FDEF9-5F77-80FC-58F7-DC61B907C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05075"/>
              </p:ext>
            </p:extLst>
          </p:nvPr>
        </p:nvGraphicFramePr>
        <p:xfrm>
          <a:off x="2790457" y="991072"/>
          <a:ext cx="6368188" cy="13881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84094">
                  <a:extLst>
                    <a:ext uri="{9D8B030D-6E8A-4147-A177-3AD203B41FA5}">
                      <a16:colId xmlns:a16="http://schemas.microsoft.com/office/drawing/2014/main" val="973723313"/>
                    </a:ext>
                  </a:extLst>
                </a:gridCol>
                <a:gridCol w="3184094">
                  <a:extLst>
                    <a:ext uri="{9D8B030D-6E8A-4147-A177-3AD203B41FA5}">
                      <a16:colId xmlns:a16="http://schemas.microsoft.com/office/drawing/2014/main" val="351244027"/>
                    </a:ext>
                  </a:extLst>
                </a:gridCol>
              </a:tblGrid>
              <a:tr h="347035">
                <a:tc>
                  <a:txBody>
                    <a:bodyPr/>
                    <a:lstStyle/>
                    <a:p>
                      <a:r>
                        <a:rPr lang="en-IN" sz="16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772738"/>
                  </a:ext>
                </a:extLst>
              </a:tr>
              <a:tr h="347035">
                <a:tc>
                  <a:txBody>
                    <a:bodyPr/>
                    <a:lstStyle/>
                    <a:p>
                      <a:r>
                        <a:rPr lang="en-IN" sz="1600"/>
                        <a:t>IaaS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Virtual machines,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528350"/>
                  </a:ext>
                </a:extLst>
              </a:tr>
              <a:tr h="347035">
                <a:tc>
                  <a:txBody>
                    <a:bodyPr/>
                    <a:lstStyle/>
                    <a:p>
                      <a:r>
                        <a:rPr lang="en-IN" sz="1600"/>
                        <a:t>PaaS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Development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197061"/>
                  </a:ext>
                </a:extLst>
              </a:tr>
              <a:tr h="347035">
                <a:tc>
                  <a:txBody>
                    <a:bodyPr/>
                    <a:lstStyle/>
                    <a:p>
                      <a:r>
                        <a:rPr lang="en-IN" sz="1600"/>
                        <a:t>SaaS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End-user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5645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E3CF75-4A32-4D04-4253-7A06253C2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457" y="2379215"/>
            <a:ext cx="6703248" cy="447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058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A5A59EC-2ADF-32A3-9C4F-B1D31EC9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89187FA7-CDA8-F22E-0A7D-A86BD19179C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59CF7BB-5281-D449-5B1D-CFCD203F221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A3A9BA5-20E0-4459-5501-8E74B34E060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6711BFB-5EBD-A48A-3771-A4ECD4A19BD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3B5A3B7-FA53-7499-ADEE-1D4633A9C33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908199A-69F0-CD56-658C-772A111CE99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A5E4B034-DB98-F83B-CF46-6FB65CDD556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A12EE-68AD-C167-0497-59162C6C4960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Cloud Computing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1F8EBA-84DF-0ADD-BE4A-92324560F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47" y="1547867"/>
            <a:ext cx="8926877" cy="461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009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87AA61E-9742-3E55-5806-AD2098A4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BE7437A3-357C-281B-4FF9-FCFCC43CB78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D4E830F-9F32-D3D6-D9A5-44BE7EE2EE6F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219C015-1515-128F-E26F-C6AF41D0187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7CF45CC6-3088-54CE-7FC9-E53B9C8B193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4B65056-9AAD-A37C-3C57-43FDC18003E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3FCCD8E3-5860-1DAB-7E16-3A152CE12C2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F9865614-2D52-6774-608E-9864298D5AC9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2ED42-6488-E43B-C893-68844D60F556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Data Center Model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50E176-6EF4-B1FC-35D4-C05DC606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244" y="722985"/>
            <a:ext cx="8921443" cy="6135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following list highlights eight reasons to adapt the cloud for upgraded Internet applications and web services.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Desired location in areas with protected space and higher energy efficiency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Sharing of peak-load capacity among a large pool of users, improving overall utilization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Separation of infrastructure maintenance duties from domain-specific application development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Significant reduction in cloud computing cost, compared with traditional computing paradigms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Cloud computing programming and application development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Service and data discovery and content/service distribution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Privacy, security, copyright, and reliability issues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Service agreements, business models, and pricing policies</a:t>
            </a:r>
          </a:p>
        </p:txBody>
      </p:sp>
    </p:spTree>
    <p:extLst>
      <p:ext uri="{BB962C8B-B14F-4D97-AF65-F5344CB8AC3E}">
        <p14:creationId xmlns:p14="http://schemas.microsoft.com/office/powerpoint/2010/main" val="23817863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0533E7E-8486-3D7B-9A42-502E9B3C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5C584068-F219-FF83-7592-A84C636228D1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B0038AA-3AA3-1C9B-E7D7-13042F73B1D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7BAB75A4-AE45-59A0-5E43-B86C6B39E42B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72BD2B04-3508-D8BD-E129-39ACBCC8C5F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2BFFC375-958F-D6A6-09A2-8F75966D54B2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C21D772-8BAF-9F28-3F23-3C98A17A0DC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D833CFC-D729-01D5-26A6-0F1144C7372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12DBB-5E59-E2CF-379C-AC59AFC183C0}"/>
              </a:ext>
            </a:extLst>
          </p:cNvPr>
          <p:cNvSpPr txBox="1"/>
          <p:nvPr/>
        </p:nvSpPr>
        <p:spPr>
          <a:xfrm>
            <a:off x="2574463" y="173151"/>
            <a:ext cx="89214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SOFTWARE ENVIRONMENTS FOR DISTRIBUTED SYSTEMS AND CLOUDS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9B1129-B2E0-9737-504A-611AE6BD0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463" y="1666240"/>
            <a:ext cx="7880044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centralized infrastructure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Thousands of servers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Virtualized environment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Energy-aware design</a:t>
            </a:r>
          </a:p>
        </p:txBody>
      </p:sp>
    </p:spTree>
    <p:extLst>
      <p:ext uri="{BB962C8B-B14F-4D97-AF65-F5344CB8AC3E}">
        <p14:creationId xmlns:p14="http://schemas.microsoft.com/office/powerpoint/2010/main" val="24385179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3A197B6-73E7-74AE-B6A5-BF6212811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27445B2-7834-BD5C-A53C-4D106651D0F7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C3782B41-BA5A-AAE7-42C8-E6776635D929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2876CF6-01DE-F0C0-CBBF-8C7BB2EFB49B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ADCB55E7-F50E-12AA-F147-3DB1BFFA1AD1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A80EA32-F33A-B8F5-10CC-92C7936BAF5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02240E7-D432-1822-38D2-9ABF1584A28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7B60377-67A2-21B6-AA06-CE964A51D1EF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C51992-2CC6-D33F-47BF-D2151297AD14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Virtualization – Core Technology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188220-8688-448D-AFF4-24381D4C0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245" y="1393547"/>
            <a:ext cx="8539662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Virtualisation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multiple virtual machines (VMs) to run on the same hardware.</a:t>
            </a:r>
          </a:p>
        </p:txBody>
      </p:sp>
    </p:spTree>
    <p:extLst>
      <p:ext uri="{BB962C8B-B14F-4D97-AF65-F5344CB8AC3E}">
        <p14:creationId xmlns:p14="http://schemas.microsoft.com/office/powerpoint/2010/main" val="37569243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6420C69-630C-730A-0F7A-52CF63E8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AC44B27-27C1-AD1A-0F76-BE3EED94F89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013CFD1-B5F7-2576-EF81-49CF0AFB2C3A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77824238-11A2-2ED8-912B-3BBCE809B93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879DE6B-5038-EED7-7B67-F2CF438F004D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0D00C8E-03C7-B826-C4F8-6AFCDB02141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EC53760-5E1E-B43B-75DC-D3129B6688B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C3BB241-6CED-878A-3FB6-5D785681BEE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0625A-A792-04D9-D7FC-D2047478839C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Service-Oriented Architecture (SOA)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7A8087-4DE5-7D88-60A0-24D6B957F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245" y="1116548"/>
            <a:ext cx="8668662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SOA is an architectural model where software components (services) communicate over a network using well-defined interfaces.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49C2CB-9795-3C08-8E2A-B48DCD206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024378"/>
              </p:ext>
            </p:extLst>
          </p:nvPr>
        </p:nvGraphicFramePr>
        <p:xfrm>
          <a:off x="2778631" y="3912652"/>
          <a:ext cx="8291783" cy="1828800"/>
        </p:xfrm>
        <a:graphic>
          <a:graphicData uri="http://schemas.openxmlformats.org/drawingml/2006/table">
            <a:tbl>
              <a:tblPr/>
              <a:tblGrid>
                <a:gridCol w="4576012">
                  <a:extLst>
                    <a:ext uri="{9D8B030D-6E8A-4147-A177-3AD203B41FA5}">
                      <a16:colId xmlns:a16="http://schemas.microsoft.com/office/drawing/2014/main" val="4162004436"/>
                    </a:ext>
                  </a:extLst>
                </a:gridCol>
                <a:gridCol w="3715771">
                  <a:extLst>
                    <a:ext uri="{9D8B030D-6E8A-4147-A177-3AD203B41FA5}">
                      <a16:colId xmlns:a16="http://schemas.microsoft.com/office/drawing/2014/main" val="335758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Entity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26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Web Services / Grids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8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Java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56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CORBA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Distributed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81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2463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92F2948-4ADC-967C-95C7-8A07BA07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1C6B5AF-34DA-B5AA-9337-8801EC464C7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91F60D0B-AB2D-1E1E-5524-DE1351A5B5E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71748CDE-6A1C-2362-1E16-FA6E74B8114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2B2A7B1-8B76-6CC6-699F-717958D80866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5AF4FAD-3AF5-9B97-57D4-F70B3F65D24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FB4030B0-CFE2-8A33-0DE9-B489727DC4B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11690E06-4CF0-F129-3DD5-A743FFCD16D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B42B1C-7EDB-F0C5-DB83-18258CD868A5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Layered Architecture for Web Services &amp; Grids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72B76F-7671-5C41-E99E-70C39B7ED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245" y="681070"/>
            <a:ext cx="8668662" cy="648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SOA builds on traditional networking layers and adds higher-level service abstractions.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/>
              <a:t>OSI Layers (Networking Foundation)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Physical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Link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Network (IP)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Transport (TCP/UDP)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Session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Presentation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Application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6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8D1A033-C3D5-7ADD-EB62-449F261F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23CBE28-96A2-813C-B7A6-B818D93DCAAC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776C91E8-C622-8F7E-010B-B21C4C75077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9578935F-2E99-4EFB-D271-7D2F06BD3784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75C100B3-19EC-4AC6-B7C1-9823AC3CD692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00FA323-AFA4-06D7-3903-354589BB09A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9342AD4D-8FA8-4C80-9D5D-A29B1AA33BE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8BB5125-2AA2-C393-3A75-228981FFA72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9AE787-AA51-E7BF-CCE3-30F69ABBFFA3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Layered Architecture for Web Services &amp; Grids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4BB72D-0DC0-A9CD-4288-D7256CA81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899" y="1835638"/>
            <a:ext cx="8709572" cy="4178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BA5E9-2A77-F679-DEB8-C433FB1B0624}"/>
              </a:ext>
            </a:extLst>
          </p:cNvPr>
          <p:cNvSpPr txBox="1"/>
          <p:nvPr/>
        </p:nvSpPr>
        <p:spPr>
          <a:xfrm>
            <a:off x="2790456" y="991299"/>
            <a:ext cx="84089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Distributed computing builds on the OSI model, adding layers for service interfaces, workflows, and management.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900748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C126442-5D8A-EF9C-39CC-AA841653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D2C8B7B-D5BE-05B0-93E7-1117E7D72621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672002A-9441-5B90-22CA-AD3591F66EB5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BA32CC1-3E94-2080-A0B1-CDF658AEF87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B5858E96-D084-A508-04CA-3A8A14A079C6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125BE135-A6F1-0821-A59F-BF0D1712A7F4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F4C6396-B30F-48CF-547C-0FB9C319983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6A8451CC-5770-A9F8-5103-710C7D7100F0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579DC-D50B-2601-506E-2719F11B0C94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Layered Architecture for Web Services &amp; Grids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EE91AD0-F059-BCBC-B40A-1B4123244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463" y="857844"/>
            <a:ext cx="8668662" cy="5944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SOA builds on traditional networking layers and adds higher-level service abstractions.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/>
              <a:t>OSI Layers (Networking Foundation)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Physical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Link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Network (IP)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Transport (TCP/UDP)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Session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Presentation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Application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550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3CCF24E-78CF-E2ED-28DF-7854278B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7A58392-121C-1839-3246-67ECF5C5C52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34EDBEC-6E38-C5FB-81BC-36EB1F4EC316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8D21E167-29D3-1112-2452-A7690A95AFF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E83BD03E-B466-8694-7E66-596B342ABED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3079721-FA04-FB75-CC9B-62E6895D85A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12AAE2F3-8448-D401-E454-1FF1671D8C5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2531BA9-27D3-C834-653A-869AD1E6762D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E734C-4F35-5857-E630-9CA473A968CC}"/>
              </a:ext>
            </a:extLst>
          </p:cNvPr>
          <p:cNvSpPr txBox="1"/>
          <p:nvPr/>
        </p:nvSpPr>
        <p:spPr>
          <a:xfrm>
            <a:off x="2574463" y="173151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Web Services and Tools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ECAA8A-94DE-6318-1EBB-44F6B72D7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207" y="1096483"/>
            <a:ext cx="8921443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Architecture in Distributed Systems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Loose coupling between components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heterogeneous systems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interoperability across platforms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Main Service Architectures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Services (SOAP-based)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(Representational State Transfer)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759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5C80AF1-E952-C154-2C9F-67E886D9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5C71C26-A869-A82A-0C76-AA8D0F44046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D81BD99-8297-E870-8F85-D0169625BEB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E3491876-E03E-7ADD-39D0-FA5580D1A068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2C2D0739-C00C-FE10-C0CF-0FFD85098D87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D982ACA-77DB-8BA5-CDBF-C59B22A83551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B2A0675-771C-4B28-326B-3E0CE2883E3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5CD19EF-28A2-6D26-6256-4737EBBA591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B6431F-8A55-9B47-C9CA-AD506C1A894B}"/>
              </a:ext>
            </a:extLst>
          </p:cNvPr>
          <p:cNvSpPr txBox="1"/>
          <p:nvPr/>
        </p:nvSpPr>
        <p:spPr>
          <a:xfrm>
            <a:off x="2574462" y="0"/>
            <a:ext cx="892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Web Services and Tools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5FFFC7-15E0-B0BE-1CFA-2AA1D6DE2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963" y="564544"/>
            <a:ext cx="8921443" cy="6293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tx1"/>
                </a:solidFill>
                <a:latin typeface="Arial" panose="020B0604020202020204" pitchFamily="34" charset="0"/>
              </a:rPr>
              <a:t>Web Services Characteristics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</a:rPr>
              <a:t>Fully specifies service environment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</a:rPr>
              <a:t>Uses SOAP messages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</a:rPr>
              <a:t>SOAP carries: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</a:rPr>
              <a:t>Protocol rules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</a:rPr>
              <a:t>Message structure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</a:rPr>
              <a:t>Communication details</a:t>
            </a:r>
          </a:p>
          <a:p>
            <a:pPr>
              <a:lnSpc>
                <a:spcPct val="150000"/>
              </a:lnSpc>
            </a:pPr>
            <a:r>
              <a:rPr lang="fr-FR" sz="3200" b="1" dirty="0"/>
              <a:t>Limitation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Complex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fr-FR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protocol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Difficult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fr-FR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implementation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</a:rPr>
              <a:t> (e.g., 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Apache Axis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pPr marL="457200" lvl="1">
              <a:lnSpc>
                <a:spcPct val="150000"/>
              </a:lnSpc>
            </a:pPr>
            <a:endParaRPr lang="fr-FR" sz="1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>
              <a:lnSpc>
                <a:spcPct val="150000"/>
              </a:lnSpc>
            </a:pPr>
            <a:r>
              <a:rPr lang="fr-FR" sz="1100" dirty="0">
                <a:solidFill>
                  <a:schemeClr val="tx1"/>
                </a:solidFill>
                <a:latin typeface="Arial" panose="020B0604020202020204" pitchFamily="34" charset="0"/>
              </a:rPr>
              <a:t>SOAP (Simple Object Access Protocol)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8536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AB5A10D-C1BB-46B7-0F55-59BDC77A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22A5294-73FB-0EED-9D54-9F4EA629A3F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901C544E-4110-B30D-4D7D-4600B217630E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911C000-54AD-40D9-8EBC-583B089BF69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7C9013A-0123-8DB9-D80B-9AF0D4154E2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BC38F597-82DB-5B3D-4955-42DA7F4817D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2729175-EAA8-ABBC-2D80-449D1CF8388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6E5408A8-A161-518B-EF3F-7CC6AC44F09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973BE8-CC7F-F626-8E8B-6EE4CBB9C67D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defTabSz="914400" eaLnBrk="0" fontAlgn="base" latinLnBrk="0" hangingPunct="0">
              <a:buSzTx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REST Architecture and Distributed Composition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14ACF3-96DC-DEDA-9318-F0FA10912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207" y="1166840"/>
            <a:ext cx="892144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Emphasizes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simplicity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Minimal message header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information stored in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 body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Lightweight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Suitable for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 technology environments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5017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65F9C79-95B4-4B99-F565-DE7B2AB4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B196C128-9EB4-7992-9AD0-8347F1028508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053A608-41EA-20FE-F688-EE7786E477B5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AFDE5142-CF2C-DA39-1E01-BAF11074C132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CEE02A5-97AE-BCEC-89E1-4F1970DC90A7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06AC950-F55D-E2F6-329D-FC7C1888B76D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5670DE1-28F5-FC68-928C-1E5C670572C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FC47DF79-3B76-623B-16AB-8348B787714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6FE02-1865-8213-120F-F3B05E0F556A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defTabSz="914400" eaLnBrk="0" fontAlgn="base" latinLnBrk="0" hangingPunct="0">
              <a:buSzTx/>
              <a:tabLst/>
            </a:pPr>
            <a:r>
              <a:rPr lang="en-US" sz="2800" b="1" dirty="0"/>
              <a:t>Distributed Application Composition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FAB00E-1FF2-D512-F33C-273D2C8AE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207" y="350751"/>
            <a:ext cx="8921443" cy="6156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dirty="0"/>
              <a:t>Services integrated to build </a:t>
            </a:r>
            <a:r>
              <a:rPr lang="en-US" sz="2800" b="1" dirty="0"/>
              <a:t>composite applications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Examples: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Java RMI</a:t>
            </a:r>
            <a:r>
              <a:rPr lang="en-US" sz="2800" dirty="0"/>
              <a:t> – remote method calls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CORBA RPC</a:t>
            </a:r>
            <a:r>
              <a:rPr lang="en-US" sz="2800" dirty="0"/>
              <a:t> – distributed object communication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Conceptual View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Sensors → Data producers</a:t>
            </a:r>
            <a:endParaRPr lang="en-US" sz="2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Grids/Clouds → Collections of services processing data</a:t>
            </a:r>
          </a:p>
          <a:p>
            <a:pPr>
              <a:lnSpc>
                <a:spcPct val="150000"/>
              </a:lnSpc>
            </a:pPr>
            <a:r>
              <a:rPr lang="en-US" sz="1200" b="1" i="0" dirty="0">
                <a:solidFill>
                  <a:srgbClr val="0A0A0A"/>
                </a:solidFill>
                <a:effectLst/>
                <a:latin typeface="Google Sans"/>
              </a:rPr>
              <a:t>CORBA (Common Object Request Broker Architecture) , Remote Procedure Calls (RPC), SOAP (Simple Object Access Protocol)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342423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31ED98F-BEC8-08BD-0309-189E60D8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850E836-6DFE-61CA-31DA-4679EE1F81CB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0E767E9-5495-5C49-6800-029CDB8D2B0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71203CED-E79B-D30D-F031-3FCB247C2FC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69C2728-3BFE-73E4-2F3C-8FD6A93B46E6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B85F4B0F-B978-608C-5A66-791D79969F0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B1F80DE-5350-9570-4614-587018F65EE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83EAA9D-D4EE-1043-A8D0-132797B4623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3FF55D-3FE3-2EF7-E4A7-9CAD19AECD30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defTabSz="914400" eaLnBrk="0" fontAlgn="base" latinLnBrk="0" hangingPunct="0">
              <a:buSzTx/>
              <a:tabLst/>
            </a:pPr>
            <a:r>
              <a:rPr lang="en-US" sz="2800" b="1" dirty="0"/>
              <a:t>Introduction to Distributed Operating Systems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0ADD5A-7EDA-7646-89E9-EA77127B2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963" y="718271"/>
            <a:ext cx="8921443" cy="611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 </a:t>
            </a:r>
            <a:r>
              <a:rPr lang="en-US" sz="2400" b="1" dirty="0"/>
              <a:t>Distributed Operating System (DOS)</a:t>
            </a:r>
            <a:r>
              <a:rPr lang="en-US" sz="2400" dirty="0"/>
              <a:t> is an operating system that manages a collection of independent computers and makes them appear to users as a </a:t>
            </a:r>
            <a:r>
              <a:rPr lang="en-US" sz="2400" b="1" dirty="0"/>
              <a:t>single unified computing system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A distributed OS ensures: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Transparent resource sharing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Coordinated execution of processes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Efficient communication between nodes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High availability and reliability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accent5"/>
                </a:solidFill>
              </a:rPr>
              <a:t>cooperate through software layers such as operating systems and middleware.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709094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8A8EB52-2B57-AC65-116B-8B8D18809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815F0EDD-F780-2978-22C4-1D36EF1308A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A835245C-7D2D-FAD3-1926-EF4D0980BC4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2DC80F5-C7F8-E2BC-C45A-A208AEB7270E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871B6690-3AEE-CF87-52B6-BDD1580C4927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77EDF6E-5B86-9D95-8CCD-82DD889CB91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276578E-A00D-CADA-33CB-447F42A3630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128C2ED8-5C7D-D1DB-D6FF-1CAF6F26865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B30D43-ACEE-9B5C-4774-4959A91E133A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defTabSz="914400" eaLnBrk="0" fontAlgn="base" latinLnBrk="0" hangingPunct="0">
              <a:buSzTx/>
              <a:tabLst/>
            </a:pPr>
            <a:r>
              <a:rPr lang="en-US" sz="2800" b="1" dirty="0"/>
              <a:t>Parallel and Distributed Programming Models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B9D33D-2E61-6751-5597-105EEB06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464" y="1096483"/>
            <a:ext cx="8921443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/>
              <a:t>Message Passing Interface (MPI) :</a:t>
            </a:r>
            <a:r>
              <a:rPr lang="en-US" sz="2400" b="1" dirty="0"/>
              <a:t> </a:t>
            </a:r>
            <a:r>
              <a:rPr lang="en-US" sz="2400" dirty="0"/>
              <a:t>Most widely used programming model for </a:t>
            </a:r>
            <a:r>
              <a:rPr lang="en-US" sz="2400" b="1" dirty="0"/>
              <a:t>parallel and distributed systems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400" b="1" dirty="0"/>
              <a:t>MapReduce Programming Model</a:t>
            </a:r>
            <a:r>
              <a:rPr lang="en-US" sz="2400" b="1" dirty="0"/>
              <a:t> :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Processes input data into intermediate key–value pairs.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Aggregates intermediate results to produce final output.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Bigtable Data Model : </a:t>
            </a:r>
            <a:r>
              <a:rPr lang="en-US" sz="2400" dirty="0"/>
              <a:t>Handles </a:t>
            </a:r>
            <a:r>
              <a:rPr lang="en-US" sz="2400" b="1" dirty="0"/>
              <a:t>large structured datasets across thousands of servers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49711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52D4425-A80C-A10C-998E-A4F5AABA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6082D3A-5510-6399-46FA-F515729BED3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31631FC8-029B-0120-023F-60CC5F7EA99A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B78303E-4CC3-BED9-C58D-72F7ECE58C1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38F8F29-090F-A543-1BA7-BE5A23AC0E0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3AA7C22D-8E48-9EE1-8753-136F4FE169E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7B63BAF6-E165-1E65-64ED-839F8DE394B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9BC896E-C7E8-8BCB-55F9-B0E9C68C6848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125BB6-0C48-8F5A-B6CA-3313FBC9BFE3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defTabSz="914400" eaLnBrk="0" fontAlgn="base" latinLnBrk="0" hangingPunct="0">
              <a:buSzTx/>
              <a:tabLst/>
            </a:pPr>
            <a:r>
              <a:rPr lang="en-US" sz="2800" b="1" dirty="0"/>
              <a:t>Parallel and Distributed Programming Models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C0DAF-D715-2B0E-C5FF-77F91BFE9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156" y="1474469"/>
            <a:ext cx="8716138" cy="49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82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BE0D6D8-A5A6-6626-A6CC-0AF7F6D80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E38DDC67-3D42-DDBE-F219-FA607714372E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086E0BF0-3084-417A-D506-7157ECA01EB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3BEF946-8A99-4E5C-354B-98766298B9F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8A209707-9CA2-5BAD-90D9-08349A01EE7E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11CDF9E2-ADA8-923D-61D8-74C4A2C3F36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52002D9-A2EE-DAB8-796E-94751E41D21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CD9ACEF-99F7-E520-F707-2D838C4DBB0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53D67-41D5-BB13-7A22-83814A8454DE}"/>
              </a:ext>
            </a:extLst>
          </p:cNvPr>
          <p:cNvSpPr txBox="1"/>
          <p:nvPr/>
        </p:nvSpPr>
        <p:spPr>
          <a:xfrm>
            <a:off x="2782348" y="293467"/>
            <a:ext cx="9746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defTabSz="914400" eaLnBrk="0" fontAlgn="base" latinLnBrk="0" hangingPunct="0">
              <a:buSzTx/>
              <a:tabLst/>
            </a:pPr>
            <a:r>
              <a:rPr lang="en-US" sz="2400" b="1" dirty="0"/>
              <a:t>PERFORMANCE, SECURITY, AND ENERGY EFFICIENCY</a:t>
            </a:r>
            <a:endParaRPr lang="en-US" altLang="en-US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7496A3-464A-D132-76E6-18F79AF51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068" y="1041965"/>
            <a:ext cx="8724050" cy="58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292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946C73E-7ED3-90C6-0F4E-05B0095E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50EF0B81-611B-3D82-9B0D-1747CC759F6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98D97CEC-E750-FB4D-8DB6-6A15BD922B72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FFD78C4-A787-EC2E-B44D-8C4ECC9E596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767431E7-DA5A-5FFA-0F55-38CAB87EC28A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39C09549-B322-2F6E-E5B7-3C649FDCDBD7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8C05641-B8CD-F791-9F87-F55EAC6B271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D954165-37E4-E35C-F9D2-7FD90E2E2B5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BB5FF-DA65-44F1-BF73-E5BB1EE957DA}"/>
              </a:ext>
            </a:extLst>
          </p:cNvPr>
          <p:cNvSpPr txBox="1"/>
          <p:nvPr/>
        </p:nvSpPr>
        <p:spPr>
          <a:xfrm>
            <a:off x="2445464" y="173151"/>
            <a:ext cx="9746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defTabSz="914400" eaLnBrk="0" fontAlgn="base" latinLnBrk="0" hangingPunct="0">
              <a:buSzTx/>
              <a:tabLst/>
            </a:pPr>
            <a:r>
              <a:rPr lang="en-US" sz="2800" b="1" dirty="0"/>
              <a:t>PERFORMANCE, SECURITY, AND ENERGY EFFICIENCY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0314AF-8D7B-22C7-D8D2-8CDDFA480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077" y="740171"/>
            <a:ext cx="8936830" cy="611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5"/>
                </a:solidFill>
              </a:rPr>
              <a:t>Performance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Performance</a:t>
            </a:r>
            <a:r>
              <a:rPr lang="en-US" sz="2400" dirty="0"/>
              <a:t> in cloud computing refers to the </a:t>
            </a:r>
            <a:r>
              <a:rPr lang="en-US" sz="2400" b="1" dirty="0"/>
              <a:t>ability of cloud systems to process tasks efficiently while delivering high speed, low latency, and high throughput to users</a:t>
            </a:r>
            <a:r>
              <a:rPr lang="en-US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Ability to handle increasing workloads by adding resources (VMs, containers, servers).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Number of tasks or requests processed per unit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 taken to respond to a user request.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Utilization: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 use of CPU, memory, storage, and network resources.</a:t>
            </a:r>
          </a:p>
        </p:txBody>
      </p:sp>
    </p:spTree>
    <p:extLst>
      <p:ext uri="{BB962C8B-B14F-4D97-AF65-F5344CB8AC3E}">
        <p14:creationId xmlns:p14="http://schemas.microsoft.com/office/powerpoint/2010/main" val="21227059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3F35DB7-5F40-6F7F-B948-0E43F3CC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9FF6FFE-65CE-BE74-E2D4-7CED8E3C52F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52E4066-C2BC-B08E-BB11-AA646AAECA30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3BE95B46-C171-3EBC-C01D-ED92375BC4A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E9B7CD54-5A24-26FA-1B0C-D4210BA78EF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696214D0-3262-AD57-A491-FBCD4AD9C2D9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F448D613-B671-2928-D9FB-018AB0486B8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FB37AC46-8466-D544-F3BF-EB14A10870B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C19DF3-233B-2441-8BEB-547E49BE411A}"/>
              </a:ext>
            </a:extLst>
          </p:cNvPr>
          <p:cNvSpPr txBox="1"/>
          <p:nvPr/>
        </p:nvSpPr>
        <p:spPr>
          <a:xfrm>
            <a:off x="2445464" y="173151"/>
            <a:ext cx="9746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defTabSz="914400" eaLnBrk="0" fontAlgn="base" latinLnBrk="0" hangingPunct="0">
              <a:buSzTx/>
              <a:tabLst/>
            </a:pPr>
            <a:r>
              <a:rPr lang="en-US" sz="2800" b="1" dirty="0"/>
              <a:t>PERFORMANCE, SECURITY, AND ENERGY EFFICIENCY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011A8D-DC77-30E7-D672-B64359897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820" y="995269"/>
            <a:ext cx="8936830" cy="5563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5"/>
                </a:solidFill>
              </a:rPr>
              <a:t>Security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Security</a:t>
            </a:r>
            <a:r>
              <a:rPr lang="en-US" sz="2400" dirty="0"/>
              <a:t> in cloud computing refers to the </a:t>
            </a:r>
            <a:r>
              <a:rPr lang="en-US" sz="2400" b="1" dirty="0"/>
              <a:t>protection of cloud resources, applications, and data from unauthorized access, attacks, and data breaches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Security focuses on three major principles (CIA triad):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Confidentiality:</a:t>
            </a:r>
            <a:r>
              <a:rPr lang="en-US" sz="2400" dirty="0"/>
              <a:t> Protecting data from unauthorized access using encryption and authentication.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Integrity:</a:t>
            </a:r>
            <a:r>
              <a:rPr lang="en-US" sz="2400" dirty="0"/>
              <a:t> Ensuring that data remains accurate and unaltered.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Availability:</a:t>
            </a:r>
            <a:r>
              <a:rPr lang="en-US" sz="2400" dirty="0"/>
              <a:t> Ensuring cloud services remain accessible even during failures or attacks.</a:t>
            </a:r>
          </a:p>
        </p:txBody>
      </p:sp>
    </p:spTree>
    <p:extLst>
      <p:ext uri="{BB962C8B-B14F-4D97-AF65-F5344CB8AC3E}">
        <p14:creationId xmlns:p14="http://schemas.microsoft.com/office/powerpoint/2010/main" val="41927984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4F45AE7-37D2-19A2-A57D-51B129D6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E29A6A6D-E2C8-7D7F-502F-432E8EEBF5B3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11A687D-187C-F876-D3AF-AE012A189829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8207E706-0BA9-3C58-E6F8-9683BA03751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5AF75A77-3100-419F-286E-7E2498A1F8EA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CCE886B-07E1-6202-D2DB-3765ABC57F7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A217110-56A2-D8C6-E24A-E1ECECC4E9E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95FAD187-BEE8-876F-1A49-CF9C963412B7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35327-5BB5-B4E2-7581-8E81BE4D3872}"/>
              </a:ext>
            </a:extLst>
          </p:cNvPr>
          <p:cNvSpPr txBox="1"/>
          <p:nvPr/>
        </p:nvSpPr>
        <p:spPr>
          <a:xfrm>
            <a:off x="2445464" y="173151"/>
            <a:ext cx="9746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defTabSz="914400" eaLnBrk="0" fontAlgn="base" latinLnBrk="0" hangingPunct="0">
              <a:buSzTx/>
              <a:tabLst/>
            </a:pPr>
            <a:r>
              <a:rPr lang="en-US" sz="2800" b="1" dirty="0"/>
              <a:t>PERFORMANCE, SECURITY, AND ENERGY EFFICIENCY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E3B06C-B652-FF18-F05D-59EB0DC79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9077" y="465539"/>
            <a:ext cx="9194830" cy="6406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5"/>
                </a:solidFill>
              </a:rPr>
              <a:t>Energy Efficiency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Energy efficiency</a:t>
            </a:r>
            <a:r>
              <a:rPr lang="en-US" sz="2400" dirty="0"/>
              <a:t> refers to the </a:t>
            </a:r>
            <a:r>
              <a:rPr lang="en-US" sz="2400" b="1" dirty="0"/>
              <a:t>ability of cloud systems and data centers to deliver high computing performance while minimizing power consumption and environmental impact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Cloud data centers consume significant electricity due 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Large numbers of servers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Cooling systems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Storage infrastructure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Networking equipment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Large cloud providers design green data </a:t>
            </a:r>
            <a:r>
              <a:rPr lang="en-US" sz="2000" dirty="0" err="1"/>
              <a:t>centres</a:t>
            </a:r>
            <a:r>
              <a:rPr lang="en-US" sz="2000" dirty="0"/>
              <a:t> to optimize cooling and energy usage.</a:t>
            </a:r>
          </a:p>
        </p:txBody>
      </p:sp>
    </p:spTree>
    <p:extLst>
      <p:ext uri="{BB962C8B-B14F-4D97-AF65-F5344CB8AC3E}">
        <p14:creationId xmlns:p14="http://schemas.microsoft.com/office/powerpoint/2010/main" val="27350062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D4DFEFE-DE32-F309-FB45-1C33F4DF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7C58FE6-F46B-596C-FBD1-F5F6D9559C5B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77F83088-A6CD-204A-765A-9963E15CA74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EFF0E2C0-6AB9-755C-4807-E7F23C51D97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E95B3940-9FE3-A434-B29E-11E235430F3F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A92B7D9-C05C-55E0-EB7F-D86B1CFD8711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D0B9DAA-A377-811E-228D-75215A53E22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7E147B5-5524-7837-2A62-CFE8961ADC9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501326-5C15-5594-5B9F-5699780FC50C}"/>
              </a:ext>
            </a:extLst>
          </p:cNvPr>
          <p:cNvSpPr txBox="1"/>
          <p:nvPr/>
        </p:nvSpPr>
        <p:spPr>
          <a:xfrm>
            <a:off x="2574463" y="173151"/>
            <a:ext cx="8921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defTabSz="914400" eaLnBrk="0" fontAlgn="base" latinLnBrk="0" hangingPunct="0">
              <a:buSzTx/>
              <a:tabLst/>
            </a:pPr>
            <a:r>
              <a:rPr lang="en-US" sz="2800" b="1" dirty="0"/>
              <a:t>Scalability versus OS Image Count in Distributed Systems</a:t>
            </a: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D02014-ECA1-BDD1-5C07-A1A985A1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3836" y="1418463"/>
            <a:ext cx="8807830" cy="5148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Scalable performance in distributed systems means that system performance improves when additional resources (processors, memory, storage, or I/O channels) are added. The OS image count represents the number of independent operating system instances running across nodes in distributed architectures such as SMP, NUMA, clusters, grids, P2P networks, and clouds.</a:t>
            </a:r>
          </a:p>
        </p:txBody>
      </p:sp>
    </p:spTree>
    <p:extLst>
      <p:ext uri="{BB962C8B-B14F-4D97-AF65-F5344CB8AC3E}">
        <p14:creationId xmlns:p14="http://schemas.microsoft.com/office/powerpoint/2010/main" val="39789537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E09566C-CCFF-C47A-0B5C-27413143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D201F8E-83AC-BF7B-7BD8-A6AC2E08B91B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12B4519-6F2A-6FDC-02B3-1F9AF8AAEA96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0A994449-7F37-205E-B8A8-D586D149CB3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224F50A-509B-8252-B835-0DC74FAB0EC4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22D1326A-7ECA-2261-D6D3-F4E0070ED07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1CF68E4E-0366-7951-C68B-59A39061BD4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FE7C3B02-0145-E1AE-C04D-9BF122C76BE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FF412D-E9B9-181D-2415-6A82ECACC2A0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SMP (Symmetric Multiprocessor) Systems</a:t>
            </a:r>
            <a:endParaRPr lang="en-US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EA028C-FE42-793A-73FF-1DB9BE382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812" y="1236790"/>
            <a:ext cx="8921443" cy="453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Single </a:t>
            </a:r>
            <a:r>
              <a:rPr lang="en-US" sz="2800" b="1" dirty="0"/>
              <a:t>system image (one OS)</a:t>
            </a:r>
            <a:r>
              <a:rPr lang="en-US" sz="2800" dirty="0"/>
              <a:t> controlling multiple processors.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Shared memory architecture.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Scalability is limited by </a:t>
            </a:r>
            <a:r>
              <a:rPr lang="en-US" sz="2800" b="1" dirty="0"/>
              <a:t>hardware packaging and interconnect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Typically supports </a:t>
            </a:r>
            <a:r>
              <a:rPr lang="en-US" sz="2800" b="1" dirty="0"/>
              <a:t>hundreds of processors in a single node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65381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97D732F-F694-564D-F005-29D89BCC3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8FC9DB4E-9626-F1D6-69B0-CEC307E26D3B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92CD1932-ED50-DC69-EC80-D6E53F6DCE72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34EE43B-2CF3-186B-7A7C-959629D7AB71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F0A0147-B817-A87E-239B-5D2994937C1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D1C1566D-B869-F5B3-9D4F-B16FEEED0DA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C7F0E2C8-C47D-185C-41A9-684FC96F469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0289BBB-0F97-C10D-5E59-A53AB174D2A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293795-885F-0984-8F53-6C7D1EA8C14E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 lvl="1" defTabSz="914400" eaLnBrk="0" fontAlgn="base" latinLnBrk="0" hangingPunct="0">
              <a:buSzTx/>
              <a:tabLst/>
            </a:pPr>
            <a:r>
              <a:rPr lang="en-US" sz="2800" b="1" dirty="0"/>
              <a:t>NUMA (Non-Uniform Memory Access) Systems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7B9135-4A6C-59A5-4854-ECFC0E250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245" y="1012439"/>
            <a:ext cx="8495950" cy="5563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from multiple SMP nodes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shared memory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run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OS images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thousands of processors using MPI communication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2,048 processors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 SMP nodes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 OS images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06629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99765EF-D685-0ADE-0771-965CE782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28F25BB-69A7-40E9-E13C-ADAB42D70D1D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03C1C9D-5FF6-DE48-5203-EBDEC70E9A91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C8908FA-0BEE-7FF7-7477-F73580C069A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5B71CD52-E04E-D7ED-99D0-29D49A913AD4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CFE4829-C12B-7859-5EF5-7B4C598A59CF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BF52806-ED76-4CA9-8481-A35D158FA7C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1D3286C-1466-EAF4-EEA0-7A9ADB9A4D8C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427275-D263-FF24-18A3-5FF7CBBC4722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 lvl="1" defTabSz="914400" eaLnBrk="0" fontAlgn="base" latinLnBrk="0" hangingPunct="0">
              <a:buSzTx/>
              <a:tabLst/>
            </a:pPr>
            <a:r>
              <a:rPr lang="en-US" sz="2800" b="1" dirty="0"/>
              <a:t>Cluster Systems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0C90F0-5CB2-43BB-8030-CE523833B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464" y="1189154"/>
            <a:ext cx="849595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 of multiple loosely coupled computing nodes.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node runs its own OS image.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 higher scalability than NUMA systems.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Nodes may be SMP or multicore servers.</a:t>
            </a:r>
          </a:p>
        </p:txBody>
      </p:sp>
    </p:spTree>
    <p:extLst>
      <p:ext uri="{BB962C8B-B14F-4D97-AF65-F5344CB8AC3E}">
        <p14:creationId xmlns:p14="http://schemas.microsoft.com/office/powerpoint/2010/main" val="33683991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5470F68-68F1-12DD-71DC-E7827894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B380EB1C-2C4C-5CC0-240B-7CC721F66E63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B59E461-D6D8-471C-A1B5-40A7998242DE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1183E004-3908-986E-EC2F-37421AF22DD2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33D15DD-471F-DE38-CAFE-4CA38AC4FC7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A13AD42-2F3D-10DE-3689-9D27AFFAD034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C9EF8AD-06CC-F989-E932-FAFAE418BAD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AF86FF06-EDB6-6294-9E3C-E5194FEA1BE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34AD55-515E-4AB1-6728-CF753E984D22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 lvl="1" defTabSz="914400" eaLnBrk="0" fontAlgn="base" latinLnBrk="0" hangingPunct="0">
              <a:buSzTx/>
              <a:tabLst/>
            </a:pPr>
            <a:r>
              <a:rPr lang="en-US" sz="2800" b="1" dirty="0"/>
              <a:t>Cloud Computing Systems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1B4CDD-8F4A-4687-267F-7150C2368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3070" y="1130808"/>
            <a:ext cx="849595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 implemented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virtualized clusters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number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Machines (VMs)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with its own OS image.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2010, large cloud systems could scale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thousands of VMs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32211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4B1938B-6FDF-2528-B497-3EC3B770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919E7E32-F923-8643-998C-DC903FF317F3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0A76DFD-D4D7-0C7A-D5B8-3D10D90E1B5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2F980E1-1E42-3C1A-204B-2156A5EDF24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784B556-498A-1902-83AC-B59241F2487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FB16C3A-58CD-2B05-A044-E62773C161D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818D92F5-45E2-A358-36E8-AD2E6212F22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7EF0E35F-2835-51F4-9346-EA2B4B78910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2FB72-666E-4855-9F75-6AB66AA9671F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 lvl="1" defTabSz="914400" eaLnBrk="0" fontAlgn="base" latinLnBrk="0" hangingPunct="0">
              <a:buSzTx/>
              <a:tabLst/>
            </a:pPr>
            <a:r>
              <a:rPr lang="en-US" sz="2800" b="1" dirty="0"/>
              <a:t>Grid Computing Systems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D29BD12-9DEF-D185-5B88-5DD5CC0A6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245" y="1201080"/>
            <a:ext cx="849595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 resources across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Nodes may be:</a:t>
            </a: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clusters</a:t>
            </a: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supercomputers</a:t>
            </a: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mainframes</a:t>
            </a: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massively parallel processors (MPP)</a:t>
            </a: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number of OS images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 smaller than the total number of processors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125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C193C06-BE05-94FE-6D2C-447AB995D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4305804-21A3-4D93-C93D-01D9174B678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FD06EEF1-1A9A-7A4A-0C9E-FA01589D6F6A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12D47F88-6E22-56CB-2F7C-A2816B7F02D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A26A0ED-1DFE-C173-63D6-EB1D276F922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B56F650-6956-00C5-181E-55AE41FDAA36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800D70F6-3905-7C1D-EF00-D76E5050106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AAB3DBF3-B630-5A86-2CB4-1E83BEBFC7E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EF1AF8-8956-1127-6091-AEB9970FDE8C}"/>
              </a:ext>
            </a:extLst>
          </p:cNvPr>
          <p:cNvSpPr txBox="1"/>
          <p:nvPr/>
        </p:nvSpPr>
        <p:spPr>
          <a:xfrm>
            <a:off x="2574463" y="173151"/>
            <a:ext cx="8921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 lvl="1" defTabSz="914400" eaLnBrk="0" fontAlgn="base" latinLnBrk="0" hangingPunct="0">
              <a:buSzTx/>
              <a:tabLst/>
            </a:pPr>
            <a:r>
              <a:rPr lang="en-US" sz="2800" b="1" dirty="0"/>
              <a:t>Peer-to-Peer (P2P) Networks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9BE03D-267B-13E5-10D3-ED32E7591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245" y="1312624"/>
            <a:ext cx="8495950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Each peer node runs its </a:t>
            </a:r>
            <a:r>
              <a:rPr lang="en-US" sz="2400" b="1" dirty="0"/>
              <a:t>own OS instance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Extremely scalable.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Can reach </a:t>
            </a:r>
            <a:r>
              <a:rPr lang="en-US" sz="2400" b="1" dirty="0"/>
              <a:t>millions of independent nodes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22907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10A8891-FBFF-ECC8-60A2-7B6D64137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2F95112-CCBB-F2A8-E75B-D730715778EE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F11F60C4-0824-A090-14E7-C0BFBAAC19A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DC95FFB-5E22-B140-302A-B27A28578C5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B285F6D6-A8E7-4018-B5CF-0C71638F0CBC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056F96D-FF57-2329-9A7A-0420ACA64F9D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149C619F-C980-AF98-BBC1-E15649CD65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0DDDD812-90DC-0E40-F0E0-6AC16201ABA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C8D35-6E2E-7001-AFB5-BF6390B50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462" y="0"/>
            <a:ext cx="8936831" cy="487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575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7290595-1382-058D-9035-B8F08432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7EF1ADE-6D48-4993-923C-C665EFFCE27C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4428B2A-4415-6F75-4C16-2B83FF6528B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D79A0B14-ACB6-C66E-DE5C-FDC85A9DF94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73637002-D3E4-7010-3380-05797874870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DE5E51A6-14FC-F77F-55EF-C8B1419EEEE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A0BA1FFE-BFE7-6378-F964-20D514EC133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5A05160-906D-16BD-BE50-B5F0E78663DC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35EF-A36F-B4BF-421E-03DA9A468789}"/>
              </a:ext>
            </a:extLst>
          </p:cNvPr>
          <p:cNvSpPr txBox="1"/>
          <p:nvPr/>
        </p:nvSpPr>
        <p:spPr>
          <a:xfrm>
            <a:off x="5825036" y="3078180"/>
            <a:ext cx="5053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 lvl="1" defTabSz="914400" eaLnBrk="0" fontAlgn="base" latinLnBrk="0" hangingPunct="0">
              <a:buSzTx/>
              <a:tabLst/>
            </a:pPr>
            <a:r>
              <a:rPr lang="en-US" sz="2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9146716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2688</TotalTime>
  <Words>4510</Words>
  <Application>Microsoft Office PowerPoint</Application>
  <PresentationFormat>Widescreen</PresentationFormat>
  <Paragraphs>717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Cambria</vt:lpstr>
      <vt:lpstr>Arial</vt:lpstr>
      <vt:lpstr>Poppins</vt:lpstr>
      <vt:lpstr>Calibri</vt:lpstr>
      <vt:lpstr>Arial MT</vt:lpstr>
      <vt:lpstr>Google Sans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Principal aip</dc:creator>
  <cp:lastModifiedBy>Hi</cp:lastModifiedBy>
  <cp:revision>202</cp:revision>
  <dcterms:created xsi:type="dcterms:W3CDTF">2021-09-07T04:22:00Z</dcterms:created>
  <dcterms:modified xsi:type="dcterms:W3CDTF">2026-03-10T10:54:41Z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