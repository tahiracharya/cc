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1" r:id="rId6"/>
    <p:sldId id="309" r:id="rId7"/>
    <p:sldId id="289" r:id="rId8"/>
    <p:sldId id="290" r:id="rId9"/>
    <p:sldId id="291" r:id="rId10"/>
    <p:sldId id="292" r:id="rId11"/>
    <p:sldId id="293" r:id="rId12"/>
    <p:sldId id="296" r:id="rId13"/>
    <p:sldId id="294" r:id="rId14"/>
    <p:sldId id="295" r:id="rId15"/>
    <p:sldId id="302" r:id="rId16"/>
    <p:sldId id="297" r:id="rId17"/>
    <p:sldId id="298" r:id="rId18"/>
    <p:sldId id="303" r:id="rId19"/>
    <p:sldId id="299" r:id="rId20"/>
    <p:sldId id="300" r:id="rId21"/>
    <p:sldId id="301" r:id="rId22"/>
    <p:sldId id="304" r:id="rId23"/>
    <p:sldId id="305" r:id="rId24"/>
    <p:sldId id="306" r:id="rId25"/>
    <p:sldId id="310" r:id="rId26"/>
    <p:sldId id="307" r:id="rId27"/>
    <p:sldId id="308" r:id="rId28"/>
    <p:sldId id="311" r:id="rId29"/>
    <p:sldId id="312" r:id="rId30"/>
    <p:sldId id="324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25" r:id="rId43"/>
  </p:sldIdLst>
  <p:sldSz cx="12192000" cy="6858000"/>
  <p:notesSz cx="6858000" cy="9144000"/>
  <p:embeddedFontLst>
    <p:embeddedFont>
      <p:font typeface="Cambria" panose="02040503050406030204" pitchFamily="18" charset="0"/>
      <p:regular r:id="rId45"/>
      <p:bold r:id="rId46"/>
      <p:italic r:id="rId47"/>
      <p:boldItalic r:id="rId48"/>
    </p:embeddedFont>
    <p:embeddedFont>
      <p:font typeface="Poppins" panose="000005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49">
          <p15:clr>
            <a:srgbClr val="A4A3A4"/>
          </p15:clr>
        </p15:guide>
        <p15:guide id="2" pos="232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6" roundtripDataSignature="AMtx7miF1ILXNU9/HYraWKOLmveo3DQH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106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1BC2770-628F-4523-8894-1DFFC57A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7297498-887C-ED63-A8ED-D15B5A7A9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2BFF2E5-7ABF-18F5-F5D8-549FB4770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5566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A63A0A1-DDCC-06A7-A318-1BBBE276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AE1F8497-6159-03D9-85D3-363C21013F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DB9A4012-A5C0-B80A-8ACC-88E93E2508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34494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CE1C970-48F2-0ACD-C098-9AEFC3BE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293DB44-2D77-E738-53F6-EA1F83511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3F8240E-3D9B-EE94-BAE8-D11965914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107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E7BC7C8-4919-A93B-C3C2-FF213538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F2E0321-65AB-AC39-C969-2A1C86ADB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6CB98DDE-0779-D599-0412-2C8F05D2D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0855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7223723-118D-1AB7-FF90-692EE9868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A848C9D8-BFF6-A04D-256C-E5F24C7388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7E8A25D-A9DD-2B1F-296B-73F3B2F37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8521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3D7B515-9648-CCA4-9C2F-7F4E358F6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9EC8E2D-1FBE-D31A-C158-9A41404D78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2169F5CA-60CE-1354-5FBC-7A13B9CC6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2152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A5A8C12-4537-090B-7854-7B6D83065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F58CFA8-F084-FC89-5AA1-477A1A366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9BAD9746-338F-C244-604D-4C90372C2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9567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D019DEB-5694-96EA-8C2C-96C90D67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49C33FA-0789-D1DF-0866-C2734ED95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CF394EBC-DE9F-9323-5034-667A139A1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8587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C9D04B8-10C8-C484-BAB3-E5F94EEB5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F687DAFD-410F-8FEF-5537-1E8E81657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7A43228-F978-84CC-43F6-E891CFA2F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0717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BBB2BFA-4BC4-9DB4-C49E-116C2E79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FE2B98F-D374-6048-4435-0B705A83A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3438F085-8CC2-F2EE-3201-15387BA36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97599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FEF674C-1715-B838-2B16-E732871D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E5C21D9-7311-E67F-4A05-3B8F4594F5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526D989-0979-5672-80EC-E87A29FB5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5800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34F181F-E2FF-8D6F-5069-041582EE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EA52B2D-0BE3-C8CA-50FB-452546D12A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23CA21F1-88A2-6F1F-C994-7247C026E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30845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ACDB57B-570A-A646-09F8-CDAED1A1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1A7E835-297D-F030-0B87-45B8742BF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4AE24C1-CB22-921F-1862-592130AA4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318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138FD71-6305-00CB-61ED-8BAEB2991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C42AD862-3046-2C76-900D-F61003BBF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36AF393F-DDC2-EE02-FFBE-F00EF23837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43164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B360C9F-0EC2-AA8A-C7CC-48BD91570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541F90AF-E104-AFDC-5098-70991912B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D8F3EDE0-742C-C7C0-7C82-8457CD291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39554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480C4F5-9DCF-B5E7-BBA9-7E3E01B1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354FE3FD-790F-9CF5-B4F5-002F1FB5B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958DA1F9-72D6-B462-03C6-B912CBF04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6296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3CB03F3-5D23-3934-1F4D-604096D9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71623700-F7B6-E77C-3EC1-C4DBC73CB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BC7343A-C412-1048-345B-1AA226BFF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77725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D06924C-03E1-CB41-0DDF-3B7F6FC2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827489B-CBFB-8D33-E66F-6C76E13A9F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2E071E17-F15A-BB8E-C28F-74D1C5789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01057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37ED187-A92A-EAAB-937F-01A23C53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69EF6BF0-EDCB-ABB3-5B5E-E3EB56966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8D913C7A-BD84-B6CB-9DC1-7A6DA84CC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46271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1C32065-BA94-96F1-596E-8072FFA7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C3497891-6E3D-8DFD-E8E8-A3333E7F5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3B8F424-E322-202A-FB3C-5BA22C5A92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83459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39B8EE2-BE6F-0DC6-4CD1-6D6251A35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64CAA19-433E-CE82-8BBC-9C8BC167E0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407FCD4D-4E1E-12E8-E865-093BDD581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95462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18674A6-CCB9-8C5B-65E5-202E0FE9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8947C559-CF4B-9BF3-439F-1BD928E4F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D2B5BC56-B12D-8678-FB9D-22DF6CB1B8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89591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D42DE38-C94C-DB8C-B537-27F61FFC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9126C7A-11F1-EBDA-7020-F6EB73C9C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D9663583-87E0-D8F1-5DAF-257544DFF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34443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449F4A6-E7DF-63B8-AF3C-6D4C46B37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995F00BA-E674-F2D2-F459-D3D148D02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07DE65CE-D3D9-302E-44BD-982ED9E357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04943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D436858-7265-449B-1A7F-75651C46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8E8CBCA6-8835-6006-9EBB-48013D92DD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EF24C9D9-A0BF-75D1-A090-C42799F54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00618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C7AB00A-12A5-0B73-5B11-186811EA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4B02C116-8E2F-1CAE-4966-B7B9F29F4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7CE44855-B87B-E15F-B029-9D5071196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30334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11D6820-4FC1-EEE9-CCE3-F2D34CCB1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CBCB7902-8B20-7C81-EF7C-268E492F8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71EE6F66-BDEE-3E4E-B63A-3A3A84ACE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86798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4EB3683-98C7-C0FB-03F2-7CE6F546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10DD79DF-B316-1B22-57FB-F2EC08E34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E0110CB6-B396-8258-FA9B-27D39B4CA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27187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F782DB4-66C9-5649-3D58-59A36E1B2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1BB02FF-9359-E0B8-2B23-773E09EE3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EF9D83CB-E50A-1043-E1C1-5F089486A4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86772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AE94F47-221F-EBEB-E667-4DD4BDAB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ACA168FC-6C08-0C80-9402-6D215340E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2F2F673-8BA8-1FC6-05AE-832D9F831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08985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C00EB4A-C435-E813-C8DA-D20FE4C1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C7D0E971-8912-50B5-E351-EE45B4E6D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06B2C16-63E0-C1FF-B80C-F8A751B41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27868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A508E60-6214-DA3E-0C1D-5B9F921E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7789D2BA-0F90-6148-2C5C-0B2CB7AF4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8082BD99-366E-77DF-CB61-51667147D0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97624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4774A73-8C32-D8C6-EB7C-C8416A48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5277F41-1725-964D-0F10-D736AED13F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F0E3A19A-B260-2D8D-AEDA-B5C9A476B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75415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B7B7FCD-3D8C-7C6A-903F-9C56605C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D281A699-B170-12B7-374E-0BDDD0EF39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467C8F6-17AE-BA96-BA6F-E153FA128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6409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178D246-A679-C1AC-4184-31B6B695F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10305976-4E36-5833-74E9-40179AF69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B8F16B07-0D94-3B11-EF0D-EE6CBCEFD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0417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0126DD0-020F-70A3-43E6-1DB8A1B75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BBB14145-A83D-62EA-BECF-4E3A94F07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536D3FAD-D455-8645-EF81-11B6CE6AF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4845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DEBB15C-6135-BA38-6C26-3F033BBC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7FCB0E3D-6417-1E8A-C446-C014EEEA6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0C79C228-505F-4245-2463-4A352CC68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27760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DE1926D-9B50-CA28-812E-F84A622B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7264ea96_0_0:notes">
            <a:extLst>
              <a:ext uri="{FF2B5EF4-FFF2-40B4-BE49-F238E27FC236}">
                <a16:creationId xmlns:a16="http://schemas.microsoft.com/office/drawing/2014/main" id="{81B4867C-0F85-303E-E0A6-634E0E8EF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0" name="Google Shape;140;g3bf7264ea96_0_0:notes">
            <a:extLst>
              <a:ext uri="{FF2B5EF4-FFF2-40B4-BE49-F238E27FC236}">
                <a16:creationId xmlns:a16="http://schemas.microsoft.com/office/drawing/2014/main" id="{621AED68-2789-5257-7A0D-A69FA5B99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8241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f652423855_0_15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2f652423855_0_15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g2f652423855_0_15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122050" y="1474470"/>
            <a:ext cx="2209800" cy="3067685"/>
            <a:chOff x="230" y="2322"/>
            <a:chExt cx="3480" cy="4831"/>
          </a:xfrm>
        </p:grpSpPr>
        <p:sp>
          <p:nvSpPr>
            <p:cNvPr id="95" name="Google Shape;95;p1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" name="Google Shape;97;p1" descr="Imag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1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7183" y="1851809"/>
            <a:ext cx="3006356" cy="237599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08600" y="3611975"/>
            <a:ext cx="246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l="17359" r="12452"/>
          <a:stretch/>
        </p:blipFill>
        <p:spPr>
          <a:xfrm>
            <a:off x="2424931" y="4959072"/>
            <a:ext cx="9071069" cy="1898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4265296" y="1385570"/>
            <a:ext cx="6070600" cy="1771015"/>
            <a:chOff x="4121" y="2182"/>
            <a:chExt cx="9560" cy="2789"/>
          </a:xfrm>
        </p:grpSpPr>
        <p:grpSp>
          <p:nvGrpSpPr>
            <p:cNvPr id="109" name="Google Shape;109;p2"/>
            <p:cNvGrpSpPr/>
            <p:nvPr/>
          </p:nvGrpSpPr>
          <p:grpSpPr>
            <a:xfrm>
              <a:off x="4121" y="2182"/>
              <a:ext cx="1837" cy="539"/>
              <a:chOff x="4882" y="2182"/>
              <a:chExt cx="1837" cy="539"/>
            </a:xfrm>
          </p:grpSpPr>
          <p:sp>
            <p:nvSpPr>
              <p:cNvPr id="110" name="Google Shape;110;p2"/>
              <p:cNvSpPr/>
              <p:nvPr/>
            </p:nvSpPr>
            <p:spPr>
              <a:xfrm>
                <a:off x="4931" y="2182"/>
                <a:ext cx="1788" cy="539"/>
              </a:xfrm>
              <a:prstGeom prst="roundRect">
                <a:avLst>
                  <a:gd name="adj" fmla="val 25046"/>
                </a:avLst>
              </a:prstGeom>
              <a:solidFill>
                <a:srgbClr val="F28E01"/>
              </a:solidFill>
              <a:ln>
                <a:noFill/>
              </a:ln>
            </p:spPr>
            <p:txBody>
              <a:bodyPr spcFirstLastPara="1" wrap="square" lIns="50800" tIns="50800" rIns="0" bIns="50800" anchor="ctr" anchorCtr="0">
                <a:noAutofit/>
              </a:bodyPr>
              <a:lstStyle/>
              <a:p>
                <a:pPr marL="914400" marR="0" lvl="2" indent="0" algn="ctr" rtl="0">
                  <a:lnSpc>
                    <a:spcPct val="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lang="en-US" sz="32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 txBox="1"/>
              <p:nvPr/>
            </p:nvSpPr>
            <p:spPr>
              <a:xfrm>
                <a:off x="4882" y="2182"/>
                <a:ext cx="1790" cy="5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Overveiw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2"/>
            <p:cNvGrpSpPr/>
            <p:nvPr/>
          </p:nvGrpSpPr>
          <p:grpSpPr>
            <a:xfrm>
              <a:off x="4170" y="2420"/>
              <a:ext cx="9511" cy="2551"/>
              <a:chOff x="4170" y="2420"/>
              <a:chExt cx="9511" cy="2551"/>
            </a:xfrm>
          </p:grpSpPr>
          <p:sp>
            <p:nvSpPr>
              <p:cNvPr id="113" name="Google Shape;113;p2"/>
              <p:cNvSpPr/>
              <p:nvPr/>
            </p:nvSpPr>
            <p:spPr>
              <a:xfrm>
                <a:off x="4170" y="2420"/>
                <a:ext cx="9511" cy="2551"/>
              </a:xfrm>
              <a:prstGeom prst="roundRect">
                <a:avLst>
                  <a:gd name="adj" fmla="val 23329"/>
                </a:avLst>
              </a:prstGeom>
              <a:gradFill>
                <a:gsLst>
                  <a:gs pos="0">
                    <a:srgbClr val="F6F9FC"/>
                  </a:gs>
                  <a:gs pos="100000">
                    <a:srgbClr val="FFAB35">
                      <a:alpha val="25098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914400" marR="0" lvl="2" indent="0" algn="l" rtl="0">
                  <a:lnSpc>
                    <a:spcPct val="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lang="en-US" sz="32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"/>
              <p:cNvSpPr txBox="1"/>
              <p:nvPr/>
            </p:nvSpPr>
            <p:spPr>
              <a:xfrm>
                <a:off x="4653" y="2901"/>
                <a:ext cx="8546" cy="1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-US" sz="13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Acharya stands as a beacon of excellence in higher education, boasting a legacy of academic distinction since its establishment in 1990. We offer a transformative educational experience, fostering holistic development, nurturing innovation and providing world-class facilities to ensure an enriching journey for our students.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15" name="Google Shape;11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9410" y="3069000"/>
            <a:ext cx="3188043" cy="12398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2"/>
          <p:cNvGrpSpPr/>
          <p:nvPr/>
        </p:nvGrpSpPr>
        <p:grpSpPr>
          <a:xfrm>
            <a:off x="122050" y="1474470"/>
            <a:ext cx="2209800" cy="3067685"/>
            <a:chOff x="230" y="2322"/>
            <a:chExt cx="3480" cy="4831"/>
          </a:xfrm>
        </p:grpSpPr>
        <p:sp>
          <p:nvSpPr>
            <p:cNvPr id="117" name="Google Shape;117;p2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9" name="Google Shape;119;p2" descr="Image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2"/>
          <p:cNvSpPr txBox="1"/>
          <p:nvPr/>
        </p:nvSpPr>
        <p:spPr>
          <a:xfrm>
            <a:off x="215125" y="3662375"/>
            <a:ext cx="220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4432" y="2386185"/>
            <a:ext cx="9081568" cy="449376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3"/>
          <p:cNvGrpSpPr/>
          <p:nvPr/>
        </p:nvGrpSpPr>
        <p:grpSpPr>
          <a:xfrm>
            <a:off x="4296410" y="1269366"/>
            <a:ext cx="4349750" cy="897255"/>
            <a:chOff x="4260" y="1285"/>
            <a:chExt cx="6850" cy="1413"/>
          </a:xfrm>
        </p:grpSpPr>
        <p:sp>
          <p:nvSpPr>
            <p:cNvPr id="129" name="Google Shape;129;p3"/>
            <p:cNvSpPr txBox="1"/>
            <p:nvPr/>
          </p:nvSpPr>
          <p:spPr>
            <a:xfrm>
              <a:off x="4261" y="1285"/>
              <a:ext cx="5705" cy="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11 Institutions, Infinite Possibilities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" name="Google Shape;130;p3"/>
            <p:cNvGrpSpPr/>
            <p:nvPr/>
          </p:nvGrpSpPr>
          <p:grpSpPr>
            <a:xfrm>
              <a:off x="4260" y="1823"/>
              <a:ext cx="6850" cy="875"/>
              <a:chOff x="4260" y="1823"/>
              <a:chExt cx="6850" cy="87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4261" y="1823"/>
                <a:ext cx="6143" cy="875"/>
              </a:xfrm>
              <a:prstGeom prst="roundRect">
                <a:avLst>
                  <a:gd name="adj" fmla="val 23329"/>
                </a:avLst>
              </a:prstGeom>
              <a:gradFill>
                <a:gsLst>
                  <a:gs pos="0">
                    <a:srgbClr val="F6F9FC"/>
                  </a:gs>
                  <a:gs pos="100000">
                    <a:srgbClr val="FFAB35">
                      <a:alpha val="25098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914400" marR="0" lvl="2" indent="0" algn="l" rtl="0">
                  <a:lnSpc>
                    <a:spcPct val="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lang="en-US" sz="32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3"/>
              <p:cNvSpPr txBox="1"/>
              <p:nvPr/>
            </p:nvSpPr>
            <p:spPr>
              <a:xfrm>
                <a:off x="4260" y="2031"/>
                <a:ext cx="6850" cy="4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n-US" sz="13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We provide 100+ programs across 50 academic streams.</a:t>
                </a:r>
                <a:endParaRPr sz="13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3" name="Google Shape;133;p3"/>
          <p:cNvGrpSpPr/>
          <p:nvPr/>
        </p:nvGrpSpPr>
        <p:grpSpPr>
          <a:xfrm>
            <a:off x="122050" y="1474470"/>
            <a:ext cx="2209800" cy="3067685"/>
            <a:chOff x="230" y="2322"/>
            <a:chExt cx="3480" cy="4831"/>
          </a:xfrm>
        </p:grpSpPr>
        <p:sp>
          <p:nvSpPr>
            <p:cNvPr id="134" name="Google Shape;134;p3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6" name="Google Shape;136;p3" descr="Imag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3"/>
          <p:cNvSpPr txBox="1"/>
          <p:nvPr/>
        </p:nvSpPr>
        <p:spPr>
          <a:xfrm>
            <a:off x="158950" y="3633125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/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/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/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/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/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/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13F49E-27F1-F30F-F2A4-56712ADBE721}"/>
              </a:ext>
            </a:extLst>
          </p:cNvPr>
          <p:cNvSpPr txBox="1"/>
          <p:nvPr/>
        </p:nvSpPr>
        <p:spPr>
          <a:xfrm>
            <a:off x="3815255" y="654663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Cloud Computing and Security (BIS613D)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2A00B-4787-FE50-CBA1-32589A20EE63}"/>
              </a:ext>
            </a:extLst>
          </p:cNvPr>
          <p:cNvSpPr txBox="1"/>
          <p:nvPr/>
        </p:nvSpPr>
        <p:spPr>
          <a:xfrm>
            <a:off x="3086949" y="1700793"/>
            <a:ext cx="799620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MODULE-</a:t>
            </a:r>
            <a:r>
              <a:rPr lang="en-IN" sz="2400" b="1" dirty="0">
                <a:latin typeface="Cambria" panose="02040503050406030204" pitchFamily="18" charset="0"/>
              </a:rPr>
              <a:t>2</a:t>
            </a:r>
            <a:r>
              <a:rPr lang="en-IN" sz="24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</a:p>
          <a:p>
            <a:pPr algn="just"/>
            <a:r>
              <a:rPr lang="en-US" sz="24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Virtual Machines and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Cambria" panose="02040503050406030204" pitchFamily="18" charset="0"/>
              </a:rPr>
              <a:t>Virtualisation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of Clusters and Data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Cambria" panose="02040503050406030204" pitchFamily="18" charset="0"/>
              </a:rPr>
              <a:t>Centres</a:t>
            </a:r>
            <a:endParaRPr lang="en-US" sz="24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algn="just"/>
            <a:endParaRPr lang="en-US" sz="2400" b="1" dirty="0">
              <a:latin typeface="Cambria" panose="020405030504060302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Implementation Levels of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Cambria" panose="02040503050406030204" pitchFamily="18" charset="0"/>
              </a:rPr>
              <a:t>Virtualisation</a:t>
            </a:r>
            <a:endParaRPr lang="en-US" sz="24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Cambria" panose="02040503050406030204" pitchFamily="18" charset="0"/>
              </a:rPr>
              <a:t>Virtualisation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Structure/Tools and Mechanisms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Cambria" panose="02040503050406030204" pitchFamily="18" charset="0"/>
              </a:rPr>
              <a:t>Virtualisation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of CPU/Memory and I/O devices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Virtual Clusters and Resource Management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Cambria" panose="02040503050406030204" pitchFamily="18" charset="0"/>
              </a:rPr>
              <a:t>Virtualisation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for Data Centre Automation.	</a:t>
            </a:r>
          </a:p>
          <a:p>
            <a:pPr algn="just"/>
            <a:endParaRPr lang="en-US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AC6ADBF-0E75-860F-4F32-5C09E2FA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4EA44AE5-6B47-85EE-62F4-22976173988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B57E4329-3151-8F77-5B96-80D4DF27C28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1368AE6-465D-2B15-3952-BDFDDD0405E5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2A530CF9-0BA9-8358-8B6A-B05A76561AAC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6AE47F3-4A55-28BE-736E-7AA3A4C1AF6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21BA365-8825-744A-AD84-2A196A7335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B4D513D-76E9-EAC6-BB42-89472D4BCAC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67F4AC-A122-E3C1-8460-29CDC2300E7F}"/>
              </a:ext>
            </a:extLst>
          </p:cNvPr>
          <p:cNvSpPr txBox="1"/>
          <p:nvPr/>
        </p:nvSpPr>
        <p:spPr>
          <a:xfrm>
            <a:off x="2519159" y="317778"/>
            <a:ext cx="9234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Introduction to Virtualization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4B4ED-B7D3-1605-6918-9FF0033C255C}"/>
              </a:ext>
            </a:extLst>
          </p:cNvPr>
          <p:cNvSpPr txBox="1"/>
          <p:nvPr/>
        </p:nvSpPr>
        <p:spPr>
          <a:xfrm>
            <a:off x="2519159" y="1236790"/>
            <a:ext cx="9234747" cy="4409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A </a:t>
            </a:r>
            <a:r>
              <a:rPr lang="en-US" sz="2400" b="1" dirty="0"/>
              <a:t>Virtual Machine (VM)</a:t>
            </a:r>
            <a:r>
              <a:rPr lang="en-US" sz="2400" dirty="0"/>
              <a:t> is a software-based computer that runs: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Its own </a:t>
            </a:r>
            <a:r>
              <a:rPr lang="en-US" sz="2400" b="1" dirty="0"/>
              <a:t>Operating System</a:t>
            </a:r>
            <a:endParaRPr lang="en-US" sz="2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Applications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Virtual CPU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Virtual Memory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Virtual Disk</a:t>
            </a:r>
          </a:p>
        </p:txBody>
      </p:sp>
    </p:spTree>
    <p:extLst>
      <p:ext uri="{BB962C8B-B14F-4D97-AF65-F5344CB8AC3E}">
        <p14:creationId xmlns:p14="http://schemas.microsoft.com/office/powerpoint/2010/main" val="1528975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7647097-682C-713A-EC6B-E2AE9CC39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920D51E0-9C20-34B5-F34A-80FCE2229A89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1BA8112-23D4-79A2-C295-511F96D79E3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ADAE997-BE1D-E1FF-4159-45C81841B72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A8348145-9305-B3C6-EB12-9E7574F498A3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D4A4B9A4-1DA6-60A6-E1C0-8F419877BF22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EB708BB-DEC8-0A2A-F118-56F052CC2E8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80D44AA3-2815-1569-A5FE-14028148CCC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4A9EC-0A81-368B-5749-3DD20D509EEE}"/>
              </a:ext>
            </a:extLst>
          </p:cNvPr>
          <p:cNvSpPr txBox="1"/>
          <p:nvPr/>
        </p:nvSpPr>
        <p:spPr>
          <a:xfrm>
            <a:off x="2519159" y="317778"/>
            <a:ext cx="9234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Introduction to Virtualization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E2BF6-72C6-4CF2-5E94-E4FF0D63E266}"/>
              </a:ext>
            </a:extLst>
          </p:cNvPr>
          <p:cNvSpPr txBox="1"/>
          <p:nvPr/>
        </p:nvSpPr>
        <p:spPr>
          <a:xfrm>
            <a:off x="2519159" y="1236790"/>
            <a:ext cx="8895075" cy="518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Virtualization is the process of creating </a:t>
            </a:r>
            <a:r>
              <a:rPr lang="en-US" sz="2800" b="1" dirty="0"/>
              <a:t>virtual versions </a:t>
            </a:r>
            <a:r>
              <a:rPr lang="en-US" sz="2800" dirty="0"/>
              <a:t>of </a:t>
            </a:r>
            <a:r>
              <a:rPr lang="en-US" sz="2800" b="1" dirty="0"/>
              <a:t>computing resources </a:t>
            </a:r>
            <a:r>
              <a:rPr lang="en-US" sz="2800" dirty="0"/>
              <a:t>such as </a:t>
            </a:r>
            <a:r>
              <a:rPr lang="en-US" sz="2800" b="1" dirty="0"/>
              <a:t>servers, operating systems, storage, or networks </a:t>
            </a:r>
            <a:r>
              <a:rPr lang="en-US" sz="2800" dirty="0"/>
              <a:t>on a single physical machine. </a:t>
            </a:r>
          </a:p>
          <a:p>
            <a:pPr algn="just">
              <a:lnSpc>
                <a:spcPct val="150000"/>
              </a:lnSpc>
            </a:pP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en-US" sz="2800" dirty="0"/>
              <a:t>This enables </a:t>
            </a:r>
            <a:r>
              <a:rPr lang="en-US" sz="2800" b="1" dirty="0"/>
              <a:t>multiple virtual machines (VMs) </a:t>
            </a:r>
            <a:r>
              <a:rPr lang="en-US" sz="2800" dirty="0"/>
              <a:t>to run independently on </a:t>
            </a:r>
            <a:r>
              <a:rPr lang="en-US" sz="2800" b="1" dirty="0"/>
              <a:t>shared hardware</a:t>
            </a:r>
            <a:r>
              <a:rPr lang="en-US" sz="2800" dirty="0"/>
              <a:t>, improving resource </a:t>
            </a:r>
            <a:r>
              <a:rPr lang="en-US" sz="2800" dirty="0" err="1"/>
              <a:t>utilisation</a:t>
            </a:r>
            <a:r>
              <a:rPr lang="en-US" sz="2800" dirty="0"/>
              <a:t> and flexibility.</a:t>
            </a:r>
          </a:p>
        </p:txBody>
      </p:sp>
    </p:spTree>
    <p:extLst>
      <p:ext uri="{BB962C8B-B14F-4D97-AF65-F5344CB8AC3E}">
        <p14:creationId xmlns:p14="http://schemas.microsoft.com/office/powerpoint/2010/main" val="1123047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80CBC9E-247A-448E-5FF9-FF31D578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2243D0B4-98A7-DCE2-B9F6-3409769C6822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3F190390-61FD-A326-3E38-66AE74B4AEA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27FE6EE-07EF-713A-4705-5F299A4EF12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5DA4BC5-5D09-2DB5-BD37-121DB0F0033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5B676A44-3B43-59BC-FE0E-61AB5866550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0AB34E4-B648-DB30-1C89-14574D03D4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B924BDB-FD5C-FF94-F84B-8009B247867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4F64D-F1AD-9DB7-02F7-506510482C46}"/>
              </a:ext>
            </a:extLst>
          </p:cNvPr>
          <p:cNvSpPr txBox="1"/>
          <p:nvPr/>
        </p:nvSpPr>
        <p:spPr>
          <a:xfrm>
            <a:off x="2519160" y="317778"/>
            <a:ext cx="89767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Evolution of Distributed Computing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D42A9-847F-CB86-C33C-E4A5F039DF20}"/>
              </a:ext>
            </a:extLst>
          </p:cNvPr>
          <p:cNvSpPr txBox="1"/>
          <p:nvPr/>
        </p:nvSpPr>
        <p:spPr>
          <a:xfrm>
            <a:off x="2600832" y="1666240"/>
            <a:ext cx="89738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Shift from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centralised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mainframes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distributed Internet systems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1950–1970 – Mainframes (e.g., IBM 360): Used by big companies and governments.</a:t>
            </a: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1960–1980 – Minicomputers (e.g., PDP-11): Used in colleges and small businesses.</a:t>
            </a: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1970–1990 – Personal Computers: Built using microprocessors (VLSI).</a:t>
            </a: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1980–2000 – Portable Devices: Laptops, mobiles in wired/wireless networks.</a:t>
            </a:r>
          </a:p>
          <a:p>
            <a:pPr marL="173038" lvl="1" indent="-1730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Since 1990 – Clusters, Grids &amp; Clouds: Use High Performance and High Throughput system</a:t>
            </a:r>
            <a:endParaRPr lang="en-US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4EA3C-6CB3-8E26-FDBA-2B6A5F74813E}"/>
              </a:ext>
            </a:extLst>
          </p:cNvPr>
          <p:cNvSpPr txBox="1"/>
          <p:nvPr/>
        </p:nvSpPr>
        <p:spPr>
          <a:xfrm>
            <a:off x="2727636" y="6278612"/>
            <a:ext cx="8559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Shift:</a:t>
            </a:r>
          </a:p>
          <a:p>
            <a:r>
              <a:rPr lang="en-US" b="1" dirty="0"/>
              <a:t>From centralized computing → to parallel and distributed computing → to cloud computing and IoT</a:t>
            </a:r>
          </a:p>
        </p:txBody>
      </p:sp>
    </p:spTree>
    <p:extLst>
      <p:ext uri="{BB962C8B-B14F-4D97-AF65-F5344CB8AC3E}">
        <p14:creationId xmlns:p14="http://schemas.microsoft.com/office/powerpoint/2010/main" val="142599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6D22786-3531-7886-2A81-A0B84D7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7E9DC8E-4A36-77C4-CAC1-DF75B5F2EE70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B4663820-371C-41D6-C431-0956317BF766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D937757-8819-871F-F494-683B8CEC4CE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F1F8C3F-229C-081B-B15F-038EA6776C0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FECEC654-10D3-DB12-E730-65A3B77D084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A5D9B0C-8FCB-2818-CDF3-70A685FE4AC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1CC89847-A713-D789-AA58-B705CC629F6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977B2A-0153-6367-5F8E-69723C70008D}"/>
              </a:ext>
            </a:extLst>
          </p:cNvPr>
          <p:cNvSpPr txBox="1"/>
          <p:nvPr/>
        </p:nvSpPr>
        <p:spPr>
          <a:xfrm>
            <a:off x="2519160" y="317778"/>
            <a:ext cx="89767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Evolution of Distributed Computing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8C2B80-6A9B-C556-B744-6D6471F37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840506"/>
              </p:ext>
            </p:extLst>
          </p:nvPr>
        </p:nvGraphicFramePr>
        <p:xfrm>
          <a:off x="2712850" y="1666239"/>
          <a:ext cx="7879359" cy="352061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26453">
                  <a:extLst>
                    <a:ext uri="{9D8B030D-6E8A-4147-A177-3AD203B41FA5}">
                      <a16:colId xmlns:a16="http://schemas.microsoft.com/office/drawing/2014/main" val="1166436147"/>
                    </a:ext>
                  </a:extLst>
                </a:gridCol>
                <a:gridCol w="2626453">
                  <a:extLst>
                    <a:ext uri="{9D8B030D-6E8A-4147-A177-3AD203B41FA5}">
                      <a16:colId xmlns:a16="http://schemas.microsoft.com/office/drawing/2014/main" val="3345799861"/>
                    </a:ext>
                  </a:extLst>
                </a:gridCol>
                <a:gridCol w="2626453">
                  <a:extLst>
                    <a:ext uri="{9D8B030D-6E8A-4147-A177-3AD203B41FA5}">
                      <a16:colId xmlns:a16="http://schemas.microsoft.com/office/drawing/2014/main" val="3408504488"/>
                    </a:ext>
                  </a:extLst>
                </a:gridCol>
              </a:tblGrid>
              <a:tr h="704123">
                <a:tc>
                  <a:txBody>
                    <a:bodyPr/>
                    <a:lstStyle/>
                    <a:p>
                      <a:r>
                        <a:rPr lang="en-IN" sz="160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Traditional 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Virtualized Computing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546650"/>
                  </a:ext>
                </a:extLst>
              </a:tr>
              <a:tr h="704123">
                <a:tc>
                  <a:txBody>
                    <a:bodyPr/>
                    <a:lstStyle/>
                    <a:p>
                      <a:r>
                        <a:rPr lang="en-IN" sz="1600"/>
                        <a:t>Hardware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Dedicated to one 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Multiple VMs share hardware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119764"/>
                  </a:ext>
                </a:extLst>
              </a:tr>
              <a:tr h="704123">
                <a:tc>
                  <a:txBody>
                    <a:bodyPr/>
                    <a:lstStyle/>
                    <a:p>
                      <a:r>
                        <a:rPr lang="en-IN" sz="1600"/>
                        <a:t>OS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One OS per machine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Multiple OS on same machine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193100"/>
                  </a:ext>
                </a:extLst>
              </a:tr>
              <a:tr h="704123">
                <a:tc>
                  <a:txBody>
                    <a:bodyPr/>
                    <a:lstStyle/>
                    <a:p>
                      <a:r>
                        <a:rPr lang="en-IN" sz="1600"/>
                        <a:t>Resource utilization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Often underutilized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Efficient sharing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853399"/>
                  </a:ext>
                </a:extLst>
              </a:tr>
              <a:tr h="704123">
                <a:tc>
                  <a:txBody>
                    <a:bodyPr/>
                    <a:lstStyle/>
                    <a:p>
                      <a:r>
                        <a:rPr lang="en-IN" sz="1600"/>
                        <a:t>Isolation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Applications share same 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Each VM isolated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27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816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A0061E0-FE02-990F-8460-78764020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925DE57-AC3C-EFB7-A7F7-FDB168B5F4E6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FB36FD9-B909-60B6-1427-7DA77198768E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CB7AA1C-D9A6-7EFB-C187-C6A33FC1D7A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9C13ACAA-449A-9FE6-EF35-80A221FC38C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97603ECB-D607-92A0-B8B8-C9243170B0E2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F75190FD-ADEB-6FC3-E375-B2A11640F84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B6E85889-7709-0174-8E31-FAA79ED4AE0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13C779-0B3C-D446-2F92-3190E42ADB6E}"/>
              </a:ext>
            </a:extLst>
          </p:cNvPr>
          <p:cNvSpPr txBox="1"/>
          <p:nvPr/>
        </p:nvSpPr>
        <p:spPr>
          <a:xfrm>
            <a:off x="2519160" y="317778"/>
            <a:ext cx="8976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Implementation Levels of Virtualization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AB4C0-CE0F-D128-7D1B-766618EAA4A5}"/>
              </a:ext>
            </a:extLst>
          </p:cNvPr>
          <p:cNvSpPr txBox="1"/>
          <p:nvPr/>
        </p:nvSpPr>
        <p:spPr>
          <a:xfrm>
            <a:off x="2585845" y="1948560"/>
            <a:ext cx="8743274" cy="3955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 b="1" dirty="0"/>
              <a:t>1. Instruction Set Architecture (ISA) Level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Emulates CPU instruction set.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Allows programs compiled for one CPU to run on another.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Example: </a:t>
            </a:r>
            <a:r>
              <a:rPr lang="en-IN" sz="1600" b="1" dirty="0"/>
              <a:t>QEMU</a:t>
            </a:r>
            <a:endParaRPr lang="en-IN" sz="1600" dirty="0"/>
          </a:p>
          <a:p>
            <a:pPr>
              <a:lnSpc>
                <a:spcPct val="200000"/>
              </a:lnSpc>
            </a:pPr>
            <a:r>
              <a:rPr lang="en-IN" sz="1600" b="1" dirty="0"/>
              <a:t>2. Hardware Level Virtualization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Uses a </a:t>
            </a:r>
            <a:r>
              <a:rPr lang="en-IN" sz="1600" b="1" dirty="0"/>
              <a:t>hypervisor (Virtual Machine Monitor – VMM)</a:t>
            </a:r>
            <a:r>
              <a:rPr lang="en-IN" sz="1600" dirty="0"/>
              <a:t> between hardware and OS.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Creates multiple VMs.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Example: </a:t>
            </a:r>
            <a:r>
              <a:rPr lang="en-IN" sz="1600" b="1" dirty="0"/>
              <a:t>VMware </a:t>
            </a:r>
            <a:r>
              <a:rPr lang="en-IN" sz="1600" b="1" dirty="0" err="1"/>
              <a:t>ESXi</a:t>
            </a:r>
            <a:r>
              <a:rPr lang="en-IN" sz="1600" b="1" dirty="0"/>
              <a:t>, Xen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5563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AF9BE8D-D8CF-EA64-147D-45F3BCAA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8D2FBB2-924E-AFA1-BCEA-E3FF58BC4FA4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3CDC97DB-F323-3B70-543C-8B5A5D9A7E7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D5D0298A-8D5D-5858-712C-52B17853F748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2A9C83B-E52E-5F9D-30CF-414DF39FC69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89F2B034-D6AA-4EB6-A612-E851FE3692D6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1376B2B-C70D-FC87-2247-A18478CEC51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80E736B3-2AB1-C47D-1A5B-36EF68574404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1879C0-E7F6-53C6-4939-978B93EAD28B}"/>
              </a:ext>
            </a:extLst>
          </p:cNvPr>
          <p:cNvSpPr txBox="1"/>
          <p:nvPr/>
        </p:nvSpPr>
        <p:spPr>
          <a:xfrm>
            <a:off x="2519160" y="317778"/>
            <a:ext cx="8976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Implementation Levels of Virtualization</a:t>
            </a:r>
            <a:endParaRPr lang="en-IN" sz="24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1AC2F2-8424-CB25-7868-898E43EDB7D6}"/>
              </a:ext>
            </a:extLst>
          </p:cNvPr>
          <p:cNvSpPr txBox="1"/>
          <p:nvPr/>
        </p:nvSpPr>
        <p:spPr>
          <a:xfrm>
            <a:off x="2585845" y="1474470"/>
            <a:ext cx="8743274" cy="4438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/>
              <a:t>3. Operating System Level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One kernel manages multiple isolated user spaces.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Lightweight virtualization.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Example: </a:t>
            </a:r>
            <a:r>
              <a:rPr lang="en-US" sz="1800" b="1" dirty="0"/>
              <a:t>Docker containers, LXC</a:t>
            </a:r>
            <a:endParaRPr lang="en-US" sz="1800" dirty="0"/>
          </a:p>
          <a:p>
            <a:pPr>
              <a:lnSpc>
                <a:spcPct val="200000"/>
              </a:lnSpc>
            </a:pPr>
            <a:r>
              <a:rPr lang="en-US" sz="1800" b="1" dirty="0"/>
              <a:t>4. Library Level Virtualization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Applications interact with a virtualization library.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Provides compatibility layer.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Example: </a:t>
            </a:r>
            <a:r>
              <a:rPr lang="en-US" sz="1800" b="1" dirty="0"/>
              <a:t>Wine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70427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86ED688-87D8-C201-4B4D-EF9540E0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BC59D48-0DB3-5CBF-549F-B1FEC8769302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7F12E3E1-016F-F081-B9C4-9F53204A4B4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687189F6-9FCB-D213-253E-1327C9D5EDEB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640EEADC-55F4-C2B5-EFD5-933EE4DF578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CBD7ADBA-DA2D-C317-A604-FFEC6FA74CD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494DDB5-DC04-7703-625F-DF3A582C213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1FAD16C1-B428-FABD-C93B-966FE7242EDF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8D3D86-B4CC-53CE-0CC6-3C824973E2AB}"/>
              </a:ext>
            </a:extLst>
          </p:cNvPr>
          <p:cNvSpPr txBox="1"/>
          <p:nvPr/>
        </p:nvSpPr>
        <p:spPr>
          <a:xfrm>
            <a:off x="2519160" y="317778"/>
            <a:ext cx="8976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Implementation Levels of Virtualization</a:t>
            </a:r>
            <a:endParaRPr lang="en-IN" sz="24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A55FF-072A-927A-A4BE-231F0339A07A}"/>
              </a:ext>
            </a:extLst>
          </p:cNvPr>
          <p:cNvSpPr txBox="1"/>
          <p:nvPr/>
        </p:nvSpPr>
        <p:spPr>
          <a:xfrm>
            <a:off x="2675050" y="1343441"/>
            <a:ext cx="9463480" cy="1985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/>
              <a:t>Application Level Virtualization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Application runs in its own virtual environment.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b="1" dirty="0"/>
              <a:t>Java Virtual Machine (JVM)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64511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41D5BF4-FFA3-60FC-2032-0C3FC0F9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916F9314-FC94-2C39-CAF0-0759329B0E8B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16534FF0-2B30-C975-B16B-9297141B82D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A33A967-A6BC-76A3-0C51-DAA82B897B4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06B796B-F64A-1F1E-4949-496D648E79DA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DB0C0525-9AB3-6A85-6235-4E4F4B3AC68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7ADE3E2-8462-9027-07E3-86F35094B93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665C1128-FFE1-AD71-A521-629C299F8488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4E1AB-0D65-9FF8-04D1-35C2053B97B8}"/>
              </a:ext>
            </a:extLst>
          </p:cNvPr>
          <p:cNvSpPr txBox="1"/>
          <p:nvPr/>
        </p:nvSpPr>
        <p:spPr>
          <a:xfrm>
            <a:off x="2519160" y="317778"/>
            <a:ext cx="9619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Implementation Levels of Virtualization</a:t>
            </a:r>
            <a:endParaRPr lang="en-IN" sz="24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B45EC8-D698-EC07-3F58-CF5200D18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668" y="1243284"/>
            <a:ext cx="8858040" cy="452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30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9696A95-D4A6-41F1-DC76-3C1DBAFAD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20F537CA-0E15-FD04-FCDF-25341F776601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C407A81-0A74-2EFC-1954-AB0461FEB26E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B3B8C4F-B538-D0E8-CDB3-C7F939E31FFE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10E32FB-0E5A-2134-180F-A2BE794EC03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53209087-1ED8-D036-E286-3279A7390DB9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8E89182-A7FA-082C-48E8-9C2E0F92B0B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7FC3FAD8-E0C5-FD04-1F0F-DF300EC9C9D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9471D3-A7DF-53F0-4821-F56E00E4B2AE}"/>
              </a:ext>
            </a:extLst>
          </p:cNvPr>
          <p:cNvSpPr txBox="1"/>
          <p:nvPr/>
        </p:nvSpPr>
        <p:spPr>
          <a:xfrm>
            <a:off x="2519160" y="317778"/>
            <a:ext cx="8976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Virtualization Structure, Tools, and Mechanisms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4EF60-5997-6E85-621E-FD63AC5A810C}"/>
              </a:ext>
            </a:extLst>
          </p:cNvPr>
          <p:cNvSpPr txBox="1"/>
          <p:nvPr/>
        </p:nvSpPr>
        <p:spPr>
          <a:xfrm>
            <a:off x="2519160" y="1902682"/>
            <a:ext cx="9168062" cy="5349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dirty="0"/>
              <a:t>Hypervisor (Virtual Machine Monitor)</a:t>
            </a:r>
          </a:p>
          <a:p>
            <a:pPr>
              <a:lnSpc>
                <a:spcPct val="200000"/>
              </a:lnSpc>
            </a:pPr>
            <a:r>
              <a:rPr lang="en-IN" sz="1800" dirty="0"/>
              <a:t>A </a:t>
            </a:r>
            <a:r>
              <a:rPr lang="en-IN" sz="1800" b="1" dirty="0"/>
              <a:t>hypervisor</a:t>
            </a:r>
            <a:r>
              <a:rPr lang="en-IN" sz="1800" dirty="0"/>
              <a:t> manages virtual machines and allocates hardware resources to them. </a:t>
            </a:r>
          </a:p>
          <a:p>
            <a:pPr>
              <a:lnSpc>
                <a:spcPct val="200000"/>
              </a:lnSpc>
            </a:pPr>
            <a:endParaRPr lang="en-IN" sz="1800" b="1" dirty="0"/>
          </a:p>
          <a:p>
            <a:pPr>
              <a:lnSpc>
                <a:spcPct val="200000"/>
              </a:lnSpc>
            </a:pPr>
            <a:r>
              <a:rPr lang="en-IN" sz="1800" b="1" dirty="0"/>
              <a:t>Types of Hypervisors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Type-1 (Bare-Metal)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Runs directly on hardware.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Examples: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VMware </a:t>
            </a:r>
            <a:r>
              <a:rPr lang="en-IN" sz="1800" dirty="0" err="1"/>
              <a:t>ESXi</a:t>
            </a:r>
            <a:endParaRPr lang="en-IN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Xen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Microsoft Hyper-V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6039D-FF24-9585-44DC-BFC274A42F1C}"/>
              </a:ext>
            </a:extLst>
          </p:cNvPr>
          <p:cNvSpPr txBox="1"/>
          <p:nvPr/>
        </p:nvSpPr>
        <p:spPr>
          <a:xfrm>
            <a:off x="7358555" y="4455799"/>
            <a:ext cx="4654769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Type-2 (Hosted)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Runs on top of an existing OS.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Examples: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VMware Workstation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VirtualBox</a:t>
            </a:r>
          </a:p>
        </p:txBody>
      </p:sp>
    </p:spTree>
    <p:extLst>
      <p:ext uri="{BB962C8B-B14F-4D97-AF65-F5344CB8AC3E}">
        <p14:creationId xmlns:p14="http://schemas.microsoft.com/office/powerpoint/2010/main" val="50074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E2C70A4-2763-E956-88E7-5C62C1A3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0BB9F75C-B42C-EC8A-AB80-BA77E87F565F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A3A20664-1C4F-0E5E-C9CA-FE27D598FD2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399534A7-FC1E-B0D8-28C1-701838C70DC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8C9DCFC3-1CBF-621E-F06D-5901A60DD4D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90F98D10-0D21-C112-686D-530ED1E8E45F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AE4C1B94-1D75-3902-8511-72610A824DD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0B5D4D8-ABB0-159D-D501-4E2C77755918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0F1C5C-EA03-B3C5-800F-F709B60B7C41}"/>
              </a:ext>
            </a:extLst>
          </p:cNvPr>
          <p:cNvSpPr txBox="1"/>
          <p:nvPr/>
        </p:nvSpPr>
        <p:spPr>
          <a:xfrm>
            <a:off x="2519160" y="317778"/>
            <a:ext cx="89767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VMM Design Requirements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3F778-0E87-CEE8-A44B-B8E26CFD9A22}"/>
              </a:ext>
            </a:extLst>
          </p:cNvPr>
          <p:cNvSpPr txBox="1"/>
          <p:nvPr/>
        </p:nvSpPr>
        <p:spPr>
          <a:xfrm>
            <a:off x="2585845" y="1304337"/>
            <a:ext cx="9168062" cy="294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VMM must: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identical environment as real machine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efficient performance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all system resources </a:t>
            </a:r>
          </a:p>
        </p:txBody>
      </p:sp>
    </p:spTree>
    <p:extLst>
      <p:ext uri="{BB962C8B-B14F-4D97-AF65-F5344CB8AC3E}">
        <p14:creationId xmlns:p14="http://schemas.microsoft.com/office/powerpoint/2010/main" val="2192192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40BD2B9-8870-B381-7241-931AD594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F074F8FC-AC5C-0295-DB5D-587A0F517F84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973114D-3905-13F8-F292-5ECF763A24C2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343CFF8E-F466-E897-C854-10188E80EDBA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92C95DD7-1CEC-E3EA-977E-88ED39C7CD4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99C38140-C91C-EFE6-1BE4-66E7DDC61E0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A0AAA72D-F3CB-E502-2967-4593028AE09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3991F5E-DD7F-77C2-16D5-E2AFE0DC6126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07F49-A103-3444-AA48-D79DF91E2DA2}"/>
              </a:ext>
            </a:extLst>
          </p:cNvPr>
          <p:cNvSpPr txBox="1"/>
          <p:nvPr/>
        </p:nvSpPr>
        <p:spPr>
          <a:xfrm>
            <a:off x="2519160" y="317778"/>
            <a:ext cx="8976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Virtualization Structure, Tools, and Mechanisms</a:t>
            </a:r>
            <a:endParaRPr lang="en-IN" sz="28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1F28C-5F37-E931-FFBD-5A0FAA417631}"/>
              </a:ext>
            </a:extLst>
          </p:cNvPr>
          <p:cNvSpPr txBox="1"/>
          <p:nvPr/>
        </p:nvSpPr>
        <p:spPr>
          <a:xfrm>
            <a:off x="2585845" y="1948560"/>
            <a:ext cx="9168062" cy="4190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Virtualization Techniques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1. Full Virtualization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Guest OS runs </a:t>
            </a:r>
            <a:r>
              <a:rPr lang="en-US" sz="2000" b="1" dirty="0"/>
              <a:t>without modification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Uses </a:t>
            </a:r>
            <a:r>
              <a:rPr lang="en-US" sz="2000" b="1" dirty="0"/>
              <a:t>binary translation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Example: VMware.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2. Para-Virtualization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Guest OS is modified to communicate with hypervisor.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Improves performance.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Example: Xen.</a:t>
            </a:r>
          </a:p>
        </p:txBody>
      </p:sp>
    </p:spTree>
    <p:extLst>
      <p:ext uri="{BB962C8B-B14F-4D97-AF65-F5344CB8AC3E}">
        <p14:creationId xmlns:p14="http://schemas.microsoft.com/office/powerpoint/2010/main" val="2951933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AF23962-64EB-5412-CEB2-73B580D0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F736F85-1DF7-F676-7D9A-3CAABCCA39B0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C420A793-CD06-CBA6-A63C-815F6E3B763D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80AF4229-1EEE-EAAF-7CB2-7C4DCA2F468C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1073E7B-483C-D100-6275-6887E9ED10E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4D93115-4EF0-5501-7F20-2B98750BCFD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0327C467-6191-17BD-DD39-A5B407D522E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B855E1B7-3C3F-20E8-8710-B5D8B66246B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997E3-E42F-0E69-6E1B-22E95C02E059}"/>
              </a:ext>
            </a:extLst>
          </p:cNvPr>
          <p:cNvSpPr txBox="1"/>
          <p:nvPr/>
        </p:nvSpPr>
        <p:spPr>
          <a:xfrm>
            <a:off x="2519160" y="317778"/>
            <a:ext cx="8976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Virtualization of CPU, Memory, and I/O</a:t>
            </a:r>
            <a:endParaRPr lang="en-IN" sz="24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FAE03-6E06-8DB6-0A89-AE345641A3D3}"/>
              </a:ext>
            </a:extLst>
          </p:cNvPr>
          <p:cNvSpPr txBox="1"/>
          <p:nvPr/>
        </p:nvSpPr>
        <p:spPr>
          <a:xfrm>
            <a:off x="2698245" y="1474470"/>
            <a:ext cx="9168062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Virtualization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Hypervisor allocates CPU cycles to VMs.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sharing or scheduling algorithms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Virtualization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 memory mapped to physical memory.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Techniques: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Shadow page tables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Extended page tables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10228-A5BB-D148-9F28-1E1D0AC830E3}"/>
              </a:ext>
            </a:extLst>
          </p:cNvPr>
          <p:cNvSpPr txBox="1"/>
          <p:nvPr/>
        </p:nvSpPr>
        <p:spPr>
          <a:xfrm>
            <a:off x="7975958" y="5199435"/>
            <a:ext cx="33752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Intel VT-x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AMD-V</a:t>
            </a:r>
          </a:p>
        </p:txBody>
      </p:sp>
    </p:spTree>
    <p:extLst>
      <p:ext uri="{BB962C8B-B14F-4D97-AF65-F5344CB8AC3E}">
        <p14:creationId xmlns:p14="http://schemas.microsoft.com/office/powerpoint/2010/main" val="4241726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2F0F8A4-42C6-7AFF-5756-B2DA9FB8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AA20B5CB-FC21-F9CA-DE31-7061A5DBB352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DFEC0D6-9D85-00BD-21EF-E1303171E1E7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BFD7DFF1-A93C-DB95-118C-43B9B85D99E2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7AF7515D-0AFC-BC73-5C51-33B5927B20E7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308AD6E5-9C81-E395-F6E3-42FE2AE60682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2BFE677-E865-9BE1-CAB5-56819144991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2B6E96E8-592E-21FE-41BC-3B2F6166AD8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62325-4CD8-98CF-84E8-8F1466A5DFCB}"/>
              </a:ext>
            </a:extLst>
          </p:cNvPr>
          <p:cNvSpPr txBox="1"/>
          <p:nvPr/>
        </p:nvSpPr>
        <p:spPr>
          <a:xfrm>
            <a:off x="2519160" y="317778"/>
            <a:ext cx="8976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Virtualization of CPU, Memory, and I/O</a:t>
            </a:r>
            <a:endParaRPr lang="en-IN" sz="24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FCA27E-CD8D-B0B3-F1CF-3F8944596A81}"/>
              </a:ext>
            </a:extLst>
          </p:cNvPr>
          <p:cNvSpPr txBox="1"/>
          <p:nvPr/>
        </p:nvSpPr>
        <p:spPr>
          <a:xfrm>
            <a:off x="2881263" y="1665277"/>
            <a:ext cx="9168062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I/O Virtualization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multiple VMs to share devices such as: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interface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GPU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 emulation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 I/O assignment</a:t>
            </a:r>
          </a:p>
        </p:txBody>
      </p:sp>
    </p:spTree>
    <p:extLst>
      <p:ext uri="{BB962C8B-B14F-4D97-AF65-F5344CB8AC3E}">
        <p14:creationId xmlns:p14="http://schemas.microsoft.com/office/powerpoint/2010/main" val="3754550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18CCF89-930D-2BF8-FF67-07431FAC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4354EDC9-53FA-5806-1A16-AB586D91F372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203C3911-67EF-1203-A849-1DB1FDFC622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77348F13-8B84-20B9-1F23-E8EA38AA181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6D0B8059-DA56-B513-F32C-04757E89F4AE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4F40CDA-3355-54B2-4F3F-21C6219D219C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896A4C2-2983-DE01-3D9F-0C69C231CEB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3B22C3A1-DD93-5A14-0FA4-4FADFAB9655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A6E5E5-8485-7D0B-DB18-F8A3CA2AADDA}"/>
              </a:ext>
            </a:extLst>
          </p:cNvPr>
          <p:cNvSpPr txBox="1"/>
          <p:nvPr/>
        </p:nvSpPr>
        <p:spPr>
          <a:xfrm>
            <a:off x="2519160" y="317778"/>
            <a:ext cx="8976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Virtualization of CPU, Memory, and I/O</a:t>
            </a:r>
            <a:endParaRPr lang="en-IN" sz="24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12C401-E7D3-A2D4-DFC9-AC7689285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109099"/>
              </p:ext>
            </p:extLst>
          </p:nvPr>
        </p:nvGraphicFramePr>
        <p:xfrm>
          <a:off x="3537228" y="1879075"/>
          <a:ext cx="5738650" cy="398569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69325">
                  <a:extLst>
                    <a:ext uri="{9D8B030D-6E8A-4147-A177-3AD203B41FA5}">
                      <a16:colId xmlns:a16="http://schemas.microsoft.com/office/drawing/2014/main" val="153410416"/>
                    </a:ext>
                  </a:extLst>
                </a:gridCol>
                <a:gridCol w="2869325">
                  <a:extLst>
                    <a:ext uri="{9D8B030D-6E8A-4147-A177-3AD203B41FA5}">
                      <a16:colId xmlns:a16="http://schemas.microsoft.com/office/drawing/2014/main" val="406813532"/>
                    </a:ext>
                  </a:extLst>
                </a:gridCol>
              </a:tblGrid>
              <a:tr h="711732">
                <a:tc>
                  <a:txBody>
                    <a:bodyPr/>
                    <a:lstStyle/>
                    <a:p>
                      <a:r>
                        <a:rPr lang="en-IN" sz="2400"/>
                        <a:t>Hypervisor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373810"/>
                  </a:ext>
                </a:extLst>
              </a:tr>
              <a:tr h="1281117">
                <a:tc>
                  <a:txBody>
                    <a:bodyPr/>
                    <a:lstStyle/>
                    <a:p>
                      <a:r>
                        <a:rPr lang="en-IN" sz="2400"/>
                        <a:t>VMware Workstation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Full virtualization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583592"/>
                  </a:ext>
                </a:extLst>
              </a:tr>
              <a:tr h="711732">
                <a:tc>
                  <a:txBody>
                    <a:bodyPr/>
                    <a:lstStyle/>
                    <a:p>
                      <a:r>
                        <a:rPr lang="en-IN" sz="2400"/>
                        <a:t>Xen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Hypervisor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460927"/>
                  </a:ext>
                </a:extLst>
              </a:tr>
              <a:tr h="1281117">
                <a:tc>
                  <a:txBody>
                    <a:bodyPr/>
                    <a:lstStyle/>
                    <a:p>
                      <a:r>
                        <a:rPr lang="en-IN" sz="2400"/>
                        <a:t>KVM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Para virtualization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714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845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82EBD04-751F-122D-6E71-F489DD6B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AB4346B-B57A-1F3B-015D-2637E8D68D28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DB3EA98-A2C1-F36F-1D85-92F1771EE315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A5CB2BB2-0EF8-6CD9-6BE0-7FE316281008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AE95EBA7-07F3-A76E-94E1-F5A75A3EC104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3C4CD07-7A23-7964-60EF-B0721CF49FD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6080DD41-1A7A-61DA-40AC-FA80D34C90D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D5B01A93-1A0A-5583-1A87-838F0048123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08EBB4-5FBA-30E9-3B04-7870C00F8285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Virtual Clusters and Resource Management</a:t>
            </a:r>
            <a:endParaRPr lang="en-IN" sz="20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8DEA3-D14A-B6CE-6EDF-D189E1B424B3}"/>
              </a:ext>
            </a:extLst>
          </p:cNvPr>
          <p:cNvSpPr txBox="1"/>
          <p:nvPr/>
        </p:nvSpPr>
        <p:spPr>
          <a:xfrm>
            <a:off x="2712850" y="1243042"/>
            <a:ext cx="86694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 Cluster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cluster where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 are virtual machines instead of physical machines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scaling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Flexible resource allocation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migration of VMs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Management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 scheduling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 balancing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provisioning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 migration</a:t>
            </a:r>
          </a:p>
        </p:txBody>
      </p:sp>
    </p:spTree>
    <p:extLst>
      <p:ext uri="{BB962C8B-B14F-4D97-AF65-F5344CB8AC3E}">
        <p14:creationId xmlns:p14="http://schemas.microsoft.com/office/powerpoint/2010/main" val="181827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DAB0BA9-7F31-B805-8145-ED13289EE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C94BBF8-E29C-0C19-4366-A40A826B90F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E118B19-4500-4921-163C-9F8F2DCC543F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B8B507C9-1991-F3D2-A107-FAB540E5AC90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8B01B82-F0FD-0AF6-73F9-5036D3B78BE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04A664C-1A89-CA25-1DDB-02716B01771A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E3D5044-4526-B39E-7317-D22B894F2F1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8764567-5BC6-282B-8F97-65B0E47C43C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8794F-B14D-69BD-398B-9C40C22F6F52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Virtualization for Data Center Automation</a:t>
            </a:r>
            <a:endParaRPr lang="en-IN" sz="2000" b="1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D955BE-5398-897F-B9F7-524741B0A81B}"/>
              </a:ext>
            </a:extLst>
          </p:cNvPr>
          <p:cNvSpPr txBox="1"/>
          <p:nvPr/>
        </p:nvSpPr>
        <p:spPr>
          <a:xfrm>
            <a:off x="2727455" y="1219504"/>
            <a:ext cx="4421767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Virtualisation enables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management of data centres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provisioning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scaling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optimization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Fault tolerance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D964D-7057-9E09-4382-723010ABA9F5}"/>
              </a:ext>
            </a:extLst>
          </p:cNvPr>
          <p:cNvSpPr txBox="1"/>
          <p:nvPr/>
        </p:nvSpPr>
        <p:spPr>
          <a:xfrm>
            <a:off x="7662852" y="1219504"/>
            <a:ext cx="6109138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in Cloud Platforms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EC2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Cloud VM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 Azure VM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tasks: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 creation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 balancing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scaling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B76F1-778C-175B-3E49-AD8728768E86}"/>
              </a:ext>
            </a:extLst>
          </p:cNvPr>
          <p:cNvCxnSpPr/>
          <p:nvPr/>
        </p:nvCxnSpPr>
        <p:spPr>
          <a:xfrm>
            <a:off x="7425559" y="1474470"/>
            <a:ext cx="0" cy="5020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776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88D8C3B-2E67-0127-912E-2C49F6A3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9E02A062-BC72-EDD7-307F-04AD88EE7E2F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6B1C379-6ECA-C263-7055-0A89ED6FBC6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8A2ECD6-2D30-73C1-1332-4D378711D83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2A55B1F-33A5-8281-7875-46882FCDD4F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34B279BD-5062-1B5D-F18C-E9768B1FC637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3FCCD859-D56D-C784-EFAA-86D9E66BA34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057C7246-8821-DCDD-035B-90BCC3AA22CF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E8F59-F3D5-2A7F-4941-F3CC652139C0}"/>
              </a:ext>
            </a:extLst>
          </p:cNvPr>
          <p:cNvSpPr txBox="1"/>
          <p:nvPr/>
        </p:nvSpPr>
        <p:spPr>
          <a:xfrm>
            <a:off x="2519160" y="317778"/>
            <a:ext cx="8976748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Hypervisor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844EC-9DFD-9FD2-ED00-0812C7AC671B}"/>
              </a:ext>
            </a:extLst>
          </p:cNvPr>
          <p:cNvSpPr txBox="1"/>
          <p:nvPr/>
        </p:nvSpPr>
        <p:spPr>
          <a:xfrm>
            <a:off x="2712850" y="1243042"/>
            <a:ext cx="8669444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Hypervisor sits between hardware and OS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Manages CPU, memory, and devices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Xen Hypervisor</a:t>
            </a:r>
          </a:p>
        </p:txBody>
      </p:sp>
    </p:spTree>
    <p:extLst>
      <p:ext uri="{BB962C8B-B14F-4D97-AF65-F5344CB8AC3E}">
        <p14:creationId xmlns:p14="http://schemas.microsoft.com/office/powerpoint/2010/main" val="1612831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9E3EA7B-909C-70E7-CDD5-7A48CB3D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CF50044-B06F-2679-44E9-2383ADB99447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5E8958BC-B4DE-2EA3-B3AD-6F9DC4065D0A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B80908C-8FA3-3669-A117-2F992B94A6ED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FE87F212-EE8E-EEEC-FEF6-78B9CA4D3AA3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1C9E840C-8B8F-B582-071F-4B215F4C275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8EF42B4-C5FB-FD75-3040-EC40C323139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01F12CCC-517C-413F-DA05-6D7CDB39B18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3FF30F-F1BC-1F0F-CF85-708EB5293B75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Xen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0C3CE-0701-6787-D876-1F186BB7165A}"/>
              </a:ext>
            </a:extLst>
          </p:cNvPr>
          <p:cNvSpPr txBox="1"/>
          <p:nvPr/>
        </p:nvSpPr>
        <p:spPr>
          <a:xfrm>
            <a:off x="2712850" y="1243042"/>
            <a:ext cx="4880378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Hypervisor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U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Privileged control domain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U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OS domains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D52C8-4373-281C-A29A-02A3D321BA17}"/>
              </a:ext>
            </a:extLst>
          </p:cNvPr>
          <p:cNvSpPr txBox="1"/>
          <p:nvPr/>
        </p:nvSpPr>
        <p:spPr>
          <a:xfrm>
            <a:off x="7492202" y="3924650"/>
            <a:ext cx="3836917" cy="3193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i="1" dirty="0">
                <a:solidFill>
                  <a:srgbClr val="040C28"/>
                </a:solidFill>
                <a:effectLst/>
                <a:latin typeface="Google Sans"/>
              </a:rPr>
              <a:t>Dom0 is the initial domain started by the Xen hypervisor on boot.</a:t>
            </a:r>
          </a:p>
          <a:p>
            <a:pPr>
              <a:lnSpc>
                <a:spcPct val="150000"/>
              </a:lnSpc>
            </a:pPr>
            <a:endParaRPr lang="en-US" sz="2000" b="0" i="1" dirty="0">
              <a:solidFill>
                <a:srgbClr val="040C28"/>
              </a:solidFill>
              <a:effectLst/>
              <a:latin typeface="Google Sans"/>
            </a:endParaRPr>
          </a:p>
          <a:p>
            <a:pPr>
              <a:lnSpc>
                <a:spcPct val="150000"/>
              </a:lnSpc>
            </a:pPr>
            <a:r>
              <a:rPr lang="en-US" sz="2000" b="1" i="1" dirty="0">
                <a:solidFill>
                  <a:srgbClr val="0A0A0A"/>
                </a:solidFill>
                <a:effectLst/>
                <a:latin typeface="Google Sans"/>
              </a:rPr>
              <a:t>Dom U </a:t>
            </a:r>
            <a:r>
              <a:rPr lang="en-US" sz="2000" b="0" i="1" dirty="0">
                <a:solidFill>
                  <a:srgbClr val="0A0A0A"/>
                </a:solidFill>
                <a:effectLst/>
                <a:latin typeface="Google Sans"/>
              </a:rPr>
              <a:t>It hosts applications, databases, or operating systems for users.</a:t>
            </a:r>
          </a:p>
          <a:p>
            <a:pPr>
              <a:lnSpc>
                <a:spcPct val="150000"/>
              </a:lnSpc>
            </a:pPr>
            <a:endParaRPr lang="en-IN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448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3B92E1F-2379-1444-4E86-9061899D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09580A9B-55DF-05F6-3EBB-522E1CE876E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149DFE3-BA2F-0DDB-6D04-F08F5937D782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36FF222E-9E7E-DE95-7E8F-3025C04695EC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91C50D35-48DF-E6FF-1ECD-A80112A43447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FC12AEA-233E-A87A-9D01-957EEC06D076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E6B8426-30D1-355E-60EB-021040070FC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EA954709-59E8-B8C3-4180-F660F8A5789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105983-B979-8E95-A4A0-42BDCAFFA9C2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Xen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BDF07-1CE1-8C75-3758-7D6B9CD5A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394" y="1474470"/>
            <a:ext cx="8799900" cy="334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65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21A3272-F3EC-4B09-E275-217778ED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D9C9785B-2473-9F7D-ADB0-D97F092589C9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614E51F-98BC-E385-F91F-BE399DBD1E65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2FF31BE-1301-E666-AB0D-EC1561294EBF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997D166F-C236-E708-44F3-1EA5C1EC56FE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553F73D-9946-B4C4-9C61-5E3231ABAB82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999EDC3-690F-F008-C3CE-6C2C1EF9372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F647C41-E3FC-85EB-B4FF-61F99F2532C6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B9A48-41A3-3ADC-A97F-A1A62E8BB64E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Virtualization Mechanisms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4F922-C74B-2B66-5AAB-21AC25BEFC7E}"/>
              </a:ext>
            </a:extLst>
          </p:cNvPr>
          <p:cNvSpPr txBox="1"/>
          <p:nvPr/>
        </p:nvSpPr>
        <p:spPr>
          <a:xfrm>
            <a:off x="2712849" y="1243042"/>
            <a:ext cx="8354543" cy="367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Full Virtualization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Guest OS runs without modification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Uses </a:t>
            </a:r>
            <a:r>
              <a:rPr lang="en-US" sz="2400" b="1" dirty="0"/>
              <a:t>binary translation</a:t>
            </a: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Example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VMware</a:t>
            </a:r>
          </a:p>
        </p:txBody>
      </p:sp>
    </p:spTree>
    <p:extLst>
      <p:ext uri="{BB962C8B-B14F-4D97-AF65-F5344CB8AC3E}">
        <p14:creationId xmlns:p14="http://schemas.microsoft.com/office/powerpoint/2010/main" val="4038638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3D219B5-F7D8-7EA3-27EC-446ABA08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05A49EB-A898-F766-924D-0BD692FDA8A4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669871E8-202D-F5C7-D089-6366F19ACEC5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12FB390-805B-D7CB-839A-0AB134F463B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0BFC875-BA90-C1FD-CDE8-52DE82BE1281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4AC1521A-64D8-D730-C2B7-1D57DCFCD38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A85E639-B2CB-F80D-DB1E-5FF447CED30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E81440FC-554B-78FB-2CAC-166BA6007620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4308FD-13DE-B1B0-0E39-6D9BFB9910C6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Full Virtualization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EA7560-6599-98F4-33CA-142CC6EC9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626" y="902577"/>
            <a:ext cx="9449788" cy="591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604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08CB351-6E5D-762C-1BF6-A820C99F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EFD71407-7226-75E5-C027-37B6177C4764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241FE718-27F3-C8EC-B0A1-F6BA6A5D6553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656F8C1-A852-1201-070C-A9B955CEA811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0105EA66-3716-A90B-416F-CB9DE1566E1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917E0D6-D42E-1FCA-7B49-DAF5680F8BA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B8376A5-D176-BBD5-193C-3234439A80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C2E7CFE4-6D84-28F9-D346-E9F390B4FA1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6C8AF1-C243-8917-E3CE-AE2CD6E2E489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Binary Translation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3946E-A40C-33CE-050B-0480643D2117}"/>
              </a:ext>
            </a:extLst>
          </p:cNvPr>
          <p:cNvSpPr txBox="1"/>
          <p:nvPr/>
        </p:nvSpPr>
        <p:spPr>
          <a:xfrm>
            <a:off x="2698245" y="1535191"/>
            <a:ext cx="8976748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Sensitive instructions are trapped to VMM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Non-critical instructions executed directly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Performance: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80–97% of native system speed </a:t>
            </a:r>
          </a:p>
        </p:txBody>
      </p:sp>
    </p:spTree>
    <p:extLst>
      <p:ext uri="{BB962C8B-B14F-4D97-AF65-F5344CB8AC3E}">
        <p14:creationId xmlns:p14="http://schemas.microsoft.com/office/powerpoint/2010/main" val="3980661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641EF0E-F3F2-FB5F-4967-7A70D41E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3BF3AF7-2928-DD81-6BD3-3BA0F5EFC993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567CFF20-6F64-7CD8-CC35-09B965E5853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B2592157-2AA2-1F91-5555-2B45B0F0F99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11233FB-F467-2E98-B24E-BA535FC9783E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D078775A-F768-6121-ED95-CC9DA5404C5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A6987D4-04F1-4B2D-8D49-A5542AB644C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F36F245-EC22-A684-A8C2-ADF358FB63F7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DF945D-89BB-9736-2CDE-94AEF256FBB0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Host-Based 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D5373-85ED-7926-1D11-A21B17D2C1B3}"/>
              </a:ext>
            </a:extLst>
          </p:cNvPr>
          <p:cNvSpPr txBox="1"/>
          <p:nvPr/>
        </p:nvSpPr>
        <p:spPr>
          <a:xfrm>
            <a:off x="2698245" y="1535191"/>
            <a:ext cx="8976748" cy="4409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Virtualization layer installed above host OS</a:t>
            </a:r>
          </a:p>
          <a:p>
            <a:pPr>
              <a:lnSpc>
                <a:spcPct val="200000"/>
              </a:lnSpc>
            </a:pP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Advantages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Easy deployment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Disadvantages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Lower performance</a:t>
            </a:r>
          </a:p>
        </p:txBody>
      </p:sp>
    </p:spTree>
    <p:extLst>
      <p:ext uri="{BB962C8B-B14F-4D97-AF65-F5344CB8AC3E}">
        <p14:creationId xmlns:p14="http://schemas.microsoft.com/office/powerpoint/2010/main" val="2218498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E5BD8DA-743E-F1B2-0599-32155E70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53ACA1FB-81DC-32D2-60EA-BCE599487780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42BB72EF-34D6-2A64-DAB4-2E911078404B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57776579-BB66-A907-D1CA-3C48A9AE826C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17B977C-A9DD-3032-5C57-F43B279ED4E9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242807F5-A739-D8CB-025E-4E73CA8D2A15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86D843B1-D586-674F-600E-93C9DD22901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22D662E4-71F7-54CA-E757-A59D6E4A516F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EEB89A-F115-B9CC-4956-668BAF265528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Para-Virtualization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C28462-0A64-198B-952D-DF839F4E8931}"/>
              </a:ext>
            </a:extLst>
          </p:cNvPr>
          <p:cNvSpPr txBox="1"/>
          <p:nvPr/>
        </p:nvSpPr>
        <p:spPr>
          <a:xfrm>
            <a:off x="2698245" y="1535191"/>
            <a:ext cx="8976748" cy="367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Guest OS modified to interact with hypervisor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Uses </a:t>
            </a:r>
            <a:r>
              <a:rPr lang="en-US" sz="2400" b="1" dirty="0" err="1"/>
              <a:t>hypercalls</a:t>
            </a: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Examples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Xen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KVM (Kernel VM)</a:t>
            </a:r>
          </a:p>
        </p:txBody>
      </p:sp>
    </p:spTree>
    <p:extLst>
      <p:ext uri="{BB962C8B-B14F-4D97-AF65-F5344CB8AC3E}">
        <p14:creationId xmlns:p14="http://schemas.microsoft.com/office/powerpoint/2010/main" val="2110217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97DB700-BF4C-884D-8BAB-301D7738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1B7D42D9-D6E7-5D9B-6D1E-9C57426C768C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ACB48DB-24F3-33E2-C389-0DEF4D8FB058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E8EF145-EB18-4BE0-9205-5BB377ABEB01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3BB64C71-A381-1FE9-7312-3E2DE4C1CFDD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7D25A7E0-E2C2-CA36-9E4E-DD25EC7EEFB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324E388-74F3-0CA7-EEE1-80D49FF8BBE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8CE5EECA-20B4-4337-BE4B-ECF84DD1DB3F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B9923C-06B7-DA68-CF78-A5BB5596CA0D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Para-Virtualization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F22611-B696-63CC-1960-D3EDC92DEC4F}"/>
              </a:ext>
            </a:extLst>
          </p:cNvPr>
          <p:cNvSpPr txBox="1"/>
          <p:nvPr/>
        </p:nvSpPr>
        <p:spPr>
          <a:xfrm>
            <a:off x="2698245" y="1535191"/>
            <a:ext cx="8976748" cy="3682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 instructions classified as: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Privileged instructions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sensitive instructions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Behaviour-sensitive instructions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Hypervisor traps critical instructions.</a:t>
            </a:r>
          </a:p>
        </p:txBody>
      </p:sp>
    </p:spTree>
    <p:extLst>
      <p:ext uri="{BB962C8B-B14F-4D97-AF65-F5344CB8AC3E}">
        <p14:creationId xmlns:p14="http://schemas.microsoft.com/office/powerpoint/2010/main" val="2892746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1A3951B-0BB1-2359-F7C0-0A201BD2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00FDB7B5-383D-DC97-82A2-839E28945CA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3E114096-A38E-64C4-1762-B454A74B761E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379D4005-EE1D-82D3-99D7-C95CC8F10317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8A6F7E86-4B8C-B5A4-9281-F5B250D49CCC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3A5A55B8-3A5F-41D5-0A2E-6D2691D28BC3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54C5B3BC-CB27-6BFD-4D7B-33A88E75797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A46A3EF4-F2DD-E1C3-CB9D-6D3ADC32A0B3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541A88-5C0E-47C5-1DA9-2A623B26080F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Para-Virtualization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F5046-0C88-C023-3F88-F2CF429C4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293" y="1074529"/>
            <a:ext cx="4350121" cy="4040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7DA13A-7D26-7A95-8D23-E01B0AED2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343" y="1369467"/>
            <a:ext cx="3781953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91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C8E58EE-C877-2850-E906-9D1E186C6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2240F0D4-8016-1491-17B4-9FA68F55B97E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A158503D-A39A-2056-B1D1-FDC3D95B2805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E42C001-42DA-887E-8BE3-CF83C31E3746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C15E0994-A18F-D3C5-24C4-528BDEE0F28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20DEBC50-4661-370B-4DAA-3169FD1FB78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B2366C8F-7EEA-CD1E-493F-B92996B6DBE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92F42579-64C0-AC29-F5F8-20DFD2D3BEE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5FCDB-3561-648D-A40E-346430A5A9B3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Hardware Assisted CPU 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60FD1-6E34-2643-5D2F-4873E4ABEE85}"/>
              </a:ext>
            </a:extLst>
          </p:cNvPr>
          <p:cNvSpPr txBox="1"/>
          <p:nvPr/>
        </p:nvSpPr>
        <p:spPr>
          <a:xfrm>
            <a:off x="2698245" y="1535191"/>
            <a:ext cx="8976748" cy="220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Processors provide additional modes: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mode for hypervisor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mode for VMs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347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AF9F5E6-5FE4-FC65-CC46-181E50F4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CC2DFE74-F53D-F23E-B63B-88CF6C8E7869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30D62954-AC69-9AAA-A243-AE61E103A23F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6825327F-C6CF-EDC5-94DE-8D8E93F9580A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A4C78D44-3DC5-64E0-2001-B479E837DE3D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93EA1DA8-52E7-442F-1D4C-B287B0450499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C424A6B-7DFA-43AC-9174-24FB1650FDD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1D5BE651-6BE9-A613-3048-0DCCE3198D8F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F8770-D141-1AC4-9F9A-64FED092E302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Memory 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DDE9C-02E6-026E-092C-AB7772193800}"/>
              </a:ext>
            </a:extLst>
          </p:cNvPr>
          <p:cNvSpPr txBox="1"/>
          <p:nvPr/>
        </p:nvSpPr>
        <p:spPr>
          <a:xfrm>
            <a:off x="2698245" y="1535191"/>
            <a:ext cx="8976748" cy="294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virtual environments: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Two-level memory mapping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 → Guest physical memory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physical → Machine memory</a:t>
            </a:r>
          </a:p>
        </p:txBody>
      </p:sp>
    </p:spTree>
    <p:extLst>
      <p:ext uri="{BB962C8B-B14F-4D97-AF65-F5344CB8AC3E}">
        <p14:creationId xmlns:p14="http://schemas.microsoft.com/office/powerpoint/2010/main" val="2908673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797572B-1D6F-CEEA-4591-E06E364F7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13B1347-51F1-B3CB-C3AB-A4F93F80B1B0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F61324AB-3C0B-0EF1-7FA9-647D6FF6CA19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ED419D27-1D8D-CAA8-66A5-3258491AFCC2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87FE7FD-D6CD-B4C7-856A-98B469D130B1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2B8CB0E7-7B9E-B6FE-C677-545AC2875DC2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217352FF-8833-89F5-A250-5ABA997EE29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E315930-A050-5B28-E2DD-D87DE9161CD5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E4A6-1D19-A3C1-A222-12465CF8324A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Memory Virtualization Mechanisms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F9348-564F-E21A-8EB4-A08E6792AAE7}"/>
              </a:ext>
            </a:extLst>
          </p:cNvPr>
          <p:cNvSpPr txBox="1"/>
          <p:nvPr/>
        </p:nvSpPr>
        <p:spPr>
          <a:xfrm>
            <a:off x="2698245" y="1535191"/>
            <a:ext cx="8976748" cy="219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tables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MMU (Memory Management Unit)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TLB caching</a:t>
            </a:r>
          </a:p>
        </p:txBody>
      </p:sp>
    </p:spTree>
    <p:extLst>
      <p:ext uri="{BB962C8B-B14F-4D97-AF65-F5344CB8AC3E}">
        <p14:creationId xmlns:p14="http://schemas.microsoft.com/office/powerpoint/2010/main" val="105181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A590BDC-F281-C253-8CF1-6E1F33A8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2C43747-453C-7FE8-F5CC-C99358224A8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D6578068-9C8F-CF78-7FF0-80E6BE57F269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84F92CB-AA1A-D036-B210-567BC35C504E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03CE4577-7A69-6A84-351E-B1357E52E422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9CB92485-E681-60A1-4405-2527A83DECE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DB892AFC-5569-F3E4-4C25-C71372E5EB0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9B82471-7CDE-087E-1527-B1177720B83A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CF1C2-A879-CA63-F123-2AE1D2B59AD9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98963" algn="l"/>
              </a:tabLst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I/O 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7DBB6-67DE-CE1E-465B-D69ECBDFDBE8}"/>
              </a:ext>
            </a:extLst>
          </p:cNvPr>
          <p:cNvSpPr txBox="1"/>
          <p:nvPr/>
        </p:nvSpPr>
        <p:spPr>
          <a:xfrm>
            <a:off x="2698245" y="981152"/>
            <a:ext cx="8976748" cy="588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Allows multiple VMs to share devices.</a:t>
            </a:r>
          </a:p>
          <a:p>
            <a:pPr>
              <a:lnSpc>
                <a:spcPct val="200000"/>
              </a:lnSpc>
            </a:pPr>
            <a:r>
              <a:rPr lang="en-IN" sz="2400" b="1" dirty="0"/>
              <a:t>Devices include: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Disk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Network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GPU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Techniques: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Device emulation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/>
              <a:t>Direct assignment</a:t>
            </a:r>
          </a:p>
        </p:txBody>
      </p:sp>
    </p:spTree>
    <p:extLst>
      <p:ext uri="{BB962C8B-B14F-4D97-AF65-F5344CB8AC3E}">
        <p14:creationId xmlns:p14="http://schemas.microsoft.com/office/powerpoint/2010/main" val="11310950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7829A64-2284-40DF-FB2F-46B21BC96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55CF13FF-4321-F9E8-0E25-0BEAFDE8F4CE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8CA3B049-CD89-DFF7-2A63-D4EA72098A90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9D68CAC0-9951-8E58-958C-9241242F0230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7A5643D-8225-32D8-2CEC-13C2E34CE09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ACBD740C-682E-81D1-FA3F-808B370D4081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317F558B-4C82-5C0E-22E3-E9C4A94AEC3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5E183F67-573C-4563-F9F9-0CA92B01B7E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9356B0-6716-7C04-CBBB-8E7A7FECEF3E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98963" algn="l"/>
              </a:tabLst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Virtual Clusters &amp; Data Centers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74249-8BBE-81A3-6BE3-DA1FE4571D17}"/>
              </a:ext>
            </a:extLst>
          </p:cNvPr>
          <p:cNvSpPr txBox="1"/>
          <p:nvPr/>
        </p:nvSpPr>
        <p:spPr>
          <a:xfrm>
            <a:off x="2698245" y="981152"/>
            <a:ext cx="8976748" cy="4409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A cluster where nodes are </a:t>
            </a:r>
            <a:r>
              <a:rPr lang="en-US" sz="2400" b="1" dirty="0"/>
              <a:t>virtual machines instead of physical servers</a:t>
            </a:r>
            <a:r>
              <a:rPr lang="en-US" sz="2400" dirty="0"/>
              <a:t>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Benefits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Scalability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Flexibility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Cost efficiency</a:t>
            </a:r>
          </a:p>
        </p:txBody>
      </p:sp>
    </p:spTree>
    <p:extLst>
      <p:ext uri="{BB962C8B-B14F-4D97-AF65-F5344CB8AC3E}">
        <p14:creationId xmlns:p14="http://schemas.microsoft.com/office/powerpoint/2010/main" val="2549207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2F408CC-DD3B-076C-F317-7B645867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422FF876-F850-FECE-4393-FCABFE602F0C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1F324585-A840-A354-F96C-B344756EFF00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CFB96589-61CE-2223-7A78-05A0D9997C51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4E60B224-8FAF-0526-3060-A161550A5205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98D86875-8D83-93DA-60BE-F2D2159D0B00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0C81EF5C-C38D-5B64-B4D0-9170AA59351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C3D66A4F-5114-46A9-281A-84BEE2E5708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A360C-71F7-BDA1-9922-C1DC41D1D9A0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98963" algn="l"/>
              </a:tabLst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Resource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EB0F8-3951-ED86-CC69-4517CCB31115}"/>
              </a:ext>
            </a:extLst>
          </p:cNvPr>
          <p:cNvSpPr txBox="1"/>
          <p:nvPr/>
        </p:nvSpPr>
        <p:spPr>
          <a:xfrm>
            <a:off x="2698245" y="1474470"/>
            <a:ext cx="4143989" cy="367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Key tasks: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VM scheduling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Load balancing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Resource allocation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VM migration</a:t>
            </a:r>
          </a:p>
        </p:txBody>
      </p:sp>
    </p:spTree>
    <p:extLst>
      <p:ext uri="{BB962C8B-B14F-4D97-AF65-F5344CB8AC3E}">
        <p14:creationId xmlns:p14="http://schemas.microsoft.com/office/powerpoint/2010/main" val="19715582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6670878-E88A-2D68-5BA6-0B4055E8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359DA476-2E67-4848-79E5-6D6B4A7A4A71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2DB8E9D3-5E15-1072-A019-BE954BD4D236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49EAD4CE-773B-57BB-0DF3-50898A337D09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387FB6CC-4927-2F29-9106-775D344E3B9E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B84D314C-5F14-C38E-CB20-CC893EE5DED1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146C0AE7-68B4-B96B-FFEF-E18B15DAEC3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83537FD3-870D-2A73-ACA5-6E6F1EABAE6B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876DC-B4C4-B0B4-DF00-2F60523CD8BE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98963" algn="l"/>
              </a:tabLst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Data Center 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3AFD9-9B07-0DD5-5344-513B86027F92}"/>
              </a:ext>
            </a:extLst>
          </p:cNvPr>
          <p:cNvSpPr txBox="1"/>
          <p:nvPr/>
        </p:nvSpPr>
        <p:spPr>
          <a:xfrm>
            <a:off x="2698245" y="1474470"/>
            <a:ext cx="4191286" cy="293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Virtualization enables: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Automated provisioning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Dynamic scaling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Fault tolerance</a:t>
            </a:r>
          </a:p>
        </p:txBody>
      </p:sp>
    </p:spTree>
    <p:extLst>
      <p:ext uri="{BB962C8B-B14F-4D97-AF65-F5344CB8AC3E}">
        <p14:creationId xmlns:p14="http://schemas.microsoft.com/office/powerpoint/2010/main" val="4081243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84C1B2A-C218-2538-52F2-A1EE37A1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2D2A3CC5-8FD6-6439-BC4E-FF69FB51A41F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75289471-D877-7F21-6C91-38DEDAA13D9A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206E6749-4AA3-BFF5-8CFF-360E10ECB062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9A9C996A-A8D1-C9E2-FB60-23004B8DC86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B542300E-08B5-D3C8-0598-E35C1AD13592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EC247F7B-7751-4FC4-A0F8-896B586C9D0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0E7257B9-4D7F-C0FE-DFA6-4122B48C3C2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9C157-FC3E-11FE-C212-EF5692B454C2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98963" algn="l"/>
              </a:tabLst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Virtualization in Cloud Platforms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C5AAB-3DA3-6CCD-7B34-92CAECEF6419}"/>
              </a:ext>
            </a:extLst>
          </p:cNvPr>
          <p:cNvSpPr txBox="1"/>
          <p:nvPr/>
        </p:nvSpPr>
        <p:spPr>
          <a:xfrm>
            <a:off x="2698245" y="1474470"/>
            <a:ext cx="4191286" cy="293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Examples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Amazon EC2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Microsoft Azure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Google Cloud</a:t>
            </a:r>
          </a:p>
        </p:txBody>
      </p:sp>
    </p:spTree>
    <p:extLst>
      <p:ext uri="{BB962C8B-B14F-4D97-AF65-F5344CB8AC3E}">
        <p14:creationId xmlns:p14="http://schemas.microsoft.com/office/powerpoint/2010/main" val="27973220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F0AADA28-9CEF-822F-F818-90F39F45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AE64295B-A671-679C-5B05-5B08BA05074A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20D02C09-BC2B-76DC-CEC1-7E8848FC3140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FA9C4612-86D4-5DA2-7000-7318812E50A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DE39A5E8-D0A2-A125-5CBF-4821936AA32B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064658C7-8EFC-5945-C604-C6FCF4ECF649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139B560-4829-E9B8-3BF0-3A91006A9FC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484F61F5-98F6-86B5-BD07-BAFA57139194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7C5F9-7079-0B83-C40A-28E364EC1816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98963" algn="l"/>
              </a:tabLs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 of 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2D540-97BB-2DC6-E225-F8DC675623E9}"/>
              </a:ext>
            </a:extLst>
          </p:cNvPr>
          <p:cNvSpPr txBox="1"/>
          <p:nvPr/>
        </p:nvSpPr>
        <p:spPr>
          <a:xfrm>
            <a:off x="2698244" y="1474470"/>
            <a:ext cx="6761065" cy="369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Efficient resource usage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Reduced hardware cost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Improved scalability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Easy system recovery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Faster deployment</a:t>
            </a:r>
          </a:p>
        </p:txBody>
      </p:sp>
    </p:spTree>
    <p:extLst>
      <p:ext uri="{BB962C8B-B14F-4D97-AF65-F5344CB8AC3E}">
        <p14:creationId xmlns:p14="http://schemas.microsoft.com/office/powerpoint/2010/main" val="38040626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EE3B5F1-0A9A-5087-C397-F968978B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E9D91695-2812-5854-3515-509088CEB154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567CDD2A-946F-01C8-1399-3D9320672B1E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8F01BC7D-24F7-D139-4D49-FF94700FE5F1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36B3D529-C7EA-EB35-14B8-0C1DB138A898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353C6D59-0F6B-A5D2-65AA-A7083848236B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4C6351FA-C95B-9C3A-785A-F45A3B923A6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EC41D3D6-58BF-7CC0-E468-74B485DDC942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114F5B-4CDF-488C-DB46-655E5F982969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98963" algn="l"/>
              </a:tabLs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Challenges of 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8E8A0-02E3-1988-50F0-3B523825A02B}"/>
              </a:ext>
            </a:extLst>
          </p:cNvPr>
          <p:cNvSpPr txBox="1"/>
          <p:nvPr/>
        </p:nvSpPr>
        <p:spPr>
          <a:xfrm>
            <a:off x="2698245" y="1384469"/>
            <a:ext cx="6761065" cy="219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risks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overhead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management complexity</a:t>
            </a:r>
          </a:p>
        </p:txBody>
      </p:sp>
    </p:spTree>
    <p:extLst>
      <p:ext uri="{BB962C8B-B14F-4D97-AF65-F5344CB8AC3E}">
        <p14:creationId xmlns:p14="http://schemas.microsoft.com/office/powerpoint/2010/main" val="36756085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31B01BC-3330-5E50-0D79-78CBB3D5E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612688AB-55AE-EC19-F5DD-C31E222E33AC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EA83DE5B-E973-9C85-5321-6B6BB068A9D4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D3691DCE-A969-3DDC-1B81-9BDA564A48A3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6308CC6E-7A84-5AEA-A630-EF9054AE4D30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E1B3A60D-7785-751A-9108-BB4CB8E66C38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CD870A00-E70A-BE44-C661-97118513C8D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C7B0C92D-13B2-37C8-C2A9-32E89DFBBEC8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45E408-4297-F1F6-0000-E0001938F671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98963" algn="l"/>
              </a:tabLs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Challenges of 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5DAC4-74EC-1F05-E697-27CF24A9A675}"/>
              </a:ext>
            </a:extLst>
          </p:cNvPr>
          <p:cNvSpPr txBox="1"/>
          <p:nvPr/>
        </p:nvSpPr>
        <p:spPr>
          <a:xfrm>
            <a:off x="2698245" y="1384469"/>
            <a:ext cx="6761065" cy="219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risks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overhead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management complexity</a:t>
            </a:r>
          </a:p>
        </p:txBody>
      </p:sp>
    </p:spTree>
    <p:extLst>
      <p:ext uri="{BB962C8B-B14F-4D97-AF65-F5344CB8AC3E}">
        <p14:creationId xmlns:p14="http://schemas.microsoft.com/office/powerpoint/2010/main" val="28475438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FCEB115-8AE5-C22F-CAA5-E1AABE019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7264ea96_0_0">
            <a:extLst>
              <a:ext uri="{FF2B5EF4-FFF2-40B4-BE49-F238E27FC236}">
                <a16:creationId xmlns:a16="http://schemas.microsoft.com/office/drawing/2014/main" id="{73A89D5B-91D1-38C7-8237-F505B2F64E55}"/>
              </a:ext>
            </a:extLst>
          </p:cNvPr>
          <p:cNvSpPr/>
          <p:nvPr/>
        </p:nvSpPr>
        <p:spPr>
          <a:xfrm flipH="1">
            <a:off x="-24137" y="-2"/>
            <a:ext cx="24696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f7264ea96_0_0">
            <a:extLst>
              <a:ext uri="{FF2B5EF4-FFF2-40B4-BE49-F238E27FC236}">
                <a16:creationId xmlns:a16="http://schemas.microsoft.com/office/drawing/2014/main" id="{BA094AED-E391-391D-3866-7966B7D582AC}"/>
              </a:ext>
            </a:extLst>
          </p:cNvPr>
          <p:cNvSpPr/>
          <p:nvPr/>
        </p:nvSpPr>
        <p:spPr>
          <a:xfrm flipH="1">
            <a:off x="11495907" y="1"/>
            <a:ext cx="258000" cy="6858000"/>
          </a:xfrm>
          <a:prstGeom prst="rect">
            <a:avLst/>
          </a:prstGeom>
          <a:solidFill>
            <a:srgbClr val="F28E0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g3bf7264ea96_0_0">
            <a:extLst>
              <a:ext uri="{FF2B5EF4-FFF2-40B4-BE49-F238E27FC236}">
                <a16:creationId xmlns:a16="http://schemas.microsoft.com/office/drawing/2014/main" id="{9BFBF095-369C-2904-C614-816AF58F338C}"/>
              </a:ext>
            </a:extLst>
          </p:cNvPr>
          <p:cNvGrpSpPr/>
          <p:nvPr/>
        </p:nvGrpSpPr>
        <p:grpSpPr>
          <a:xfrm>
            <a:off x="53470" y="1474470"/>
            <a:ext cx="2278380" cy="3049270"/>
            <a:chOff x="122" y="2322"/>
            <a:chExt cx="3588" cy="4802"/>
          </a:xfrm>
        </p:grpSpPr>
        <p:sp>
          <p:nvSpPr>
            <p:cNvPr id="145" name="Google Shape;145;g3bf7264ea96_0_0">
              <a:extLst>
                <a:ext uri="{FF2B5EF4-FFF2-40B4-BE49-F238E27FC236}">
                  <a16:creationId xmlns:a16="http://schemas.microsoft.com/office/drawing/2014/main" id="{124D109E-3506-E99F-399F-363A54F21A6F}"/>
                </a:ext>
              </a:extLst>
            </p:cNvPr>
            <p:cNvSpPr/>
            <p:nvPr/>
          </p:nvSpPr>
          <p:spPr>
            <a:xfrm flipH="1">
              <a:off x="1010" y="2322"/>
              <a:ext cx="2700" cy="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bf7264ea96_0_0">
              <a:extLst>
                <a:ext uri="{FF2B5EF4-FFF2-40B4-BE49-F238E27FC236}">
                  <a16:creationId xmlns:a16="http://schemas.microsoft.com/office/drawing/2014/main" id="{351D00D7-D40A-FEB5-77F6-CB593F829E7E}"/>
                </a:ext>
              </a:extLst>
            </p:cNvPr>
            <p:cNvSpPr/>
            <p:nvPr/>
          </p:nvSpPr>
          <p:spPr>
            <a:xfrm flipH="1">
              <a:off x="122" y="2624"/>
              <a:ext cx="3300" cy="4500"/>
            </a:xfrm>
            <a:prstGeom prst="rect">
              <a:avLst/>
            </a:prstGeom>
            <a:solidFill>
              <a:srgbClr val="585858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g3bf7264ea96_0_0" descr="Image">
              <a:extLst>
                <a:ext uri="{FF2B5EF4-FFF2-40B4-BE49-F238E27FC236}">
                  <a16:creationId xmlns:a16="http://schemas.microsoft.com/office/drawing/2014/main" id="{F712FE36-19D4-39E1-86BC-D97EFA76B08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" y="3715"/>
              <a:ext cx="1683" cy="18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3bf7264ea96_0_0">
            <a:extLst>
              <a:ext uri="{FF2B5EF4-FFF2-40B4-BE49-F238E27FC236}">
                <a16:creationId xmlns:a16="http://schemas.microsoft.com/office/drawing/2014/main" id="{E0D7744F-9EA1-B2A9-6C9C-05831CBB7121}"/>
              </a:ext>
            </a:extLst>
          </p:cNvPr>
          <p:cNvSpPr txBox="1"/>
          <p:nvPr/>
        </p:nvSpPr>
        <p:spPr>
          <a:xfrm>
            <a:off x="142675" y="3601400"/>
            <a:ext cx="213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 of AIML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EFAE58-450B-37F7-0BDB-D9DB2A63CA9C}"/>
              </a:ext>
            </a:extLst>
          </p:cNvPr>
          <p:cNvSpPr txBox="1"/>
          <p:nvPr/>
        </p:nvSpPr>
        <p:spPr>
          <a:xfrm>
            <a:off x="2519160" y="317778"/>
            <a:ext cx="897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98963" algn="l"/>
              </a:tabLs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Challenges of Virtualization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6BE8A-1BFE-CFDD-7F18-34BF29EC864F}"/>
              </a:ext>
            </a:extLst>
          </p:cNvPr>
          <p:cNvSpPr txBox="1"/>
          <p:nvPr/>
        </p:nvSpPr>
        <p:spPr>
          <a:xfrm>
            <a:off x="2698245" y="1384469"/>
            <a:ext cx="6761065" cy="219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risks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overhead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management complexity</a:t>
            </a:r>
          </a:p>
        </p:txBody>
      </p:sp>
    </p:spTree>
    <p:extLst>
      <p:ext uri="{BB962C8B-B14F-4D97-AF65-F5344CB8AC3E}">
        <p14:creationId xmlns:p14="http://schemas.microsoft.com/office/powerpoint/2010/main" val="356631889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2970</TotalTime>
  <Words>1300</Words>
  <Application>Microsoft Office PowerPoint</Application>
  <PresentationFormat>Widescreen</PresentationFormat>
  <Paragraphs>322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Calibri</vt:lpstr>
      <vt:lpstr>Poppins</vt:lpstr>
      <vt:lpstr>Google Sans</vt:lpstr>
      <vt:lpstr>Cambria</vt:lpstr>
      <vt:lpstr>Arial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Principal aip</dc:creator>
  <cp:lastModifiedBy>Hi</cp:lastModifiedBy>
  <cp:revision>261</cp:revision>
  <dcterms:created xsi:type="dcterms:W3CDTF">2021-09-07T04:22:00Z</dcterms:created>
  <dcterms:modified xsi:type="dcterms:W3CDTF">2026-03-17T09:11:50Z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